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11" Type="http://schemas.openxmlformats.org/officeDocument/2006/relationships/slide" Target="slides/slide6.xml"/><Relationship Id="rId22" Type="http://schemas.openxmlformats.org/officeDocument/2006/relationships/font" Target="fonts/Raleway-italic.fntdata"/><Relationship Id="rId10" Type="http://schemas.openxmlformats.org/officeDocument/2006/relationships/slide" Target="slides/slide5.xml"/><Relationship Id="rId21" Type="http://schemas.openxmlformats.org/officeDocument/2006/relationships/font" Target="fonts/Raleway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81e2bc9f6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81e2bc9f6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81e2bc9f6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81e2bc9f6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81e2bc9f6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81e2bc9f6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81e2bc9f6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81e2bc9f6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1e2bc9f6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1e2bc9f6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1e2bc9f6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1e2bc9f6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1e2bc9f6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1e2bc9f6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81e2bc9f65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81e2bc9f6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1e2bc9f6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1e2bc9f6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81e2bc9f6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81e2bc9f6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1e2bc9f6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1e2bc9f6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81e2bc9f6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81e2bc9f6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1e2bc9f6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1e2bc9f6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probability?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5248200" cy="3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philosophical interpretations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On one hand: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We can imagine an area, which is the universe or </a:t>
            </a:r>
            <a:r>
              <a:rPr i="1" lang="en-GB"/>
              <a:t>support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And a "sub-area"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i="1" lang="en-GB"/>
              <a:t>probability</a:t>
            </a:r>
            <a:r>
              <a:rPr lang="en-GB"/>
              <a:t> of throwing a dart and hitting the sub-area is related to the size of that area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"If we throw 100 darts at random, X% will land in the circle"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9740" l="13130" r="2538" t="4216"/>
          <a:stretch/>
        </p:blipFill>
        <p:spPr>
          <a:xfrm>
            <a:off x="6018400" y="1581650"/>
            <a:ext cx="2582325" cy="255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What is probability?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Now instead of </a:t>
            </a:r>
            <a:r>
              <a:rPr i="1" lang="en-GB"/>
              <a:t>frequencies</a:t>
            </a:r>
            <a:r>
              <a:rPr lang="en-GB"/>
              <a:t>, let's think about mechanisms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Imagine a machine that produces events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This machine uses a certain criterion to decide what to generate (</a:t>
            </a:r>
            <a:r>
              <a:rPr b="1" i="1" lang="en-GB"/>
              <a:t>f</a:t>
            </a:r>
            <a:r>
              <a:rPr lang="en-GB"/>
              <a:t>)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5050" y="1152475"/>
            <a:ext cx="2450883" cy="37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6702775" y="4176900"/>
            <a:ext cx="38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000">
                <a:latin typeface="Source Sans Pro"/>
                <a:ea typeface="Source Sans Pro"/>
                <a:cs typeface="Source Sans Pro"/>
                <a:sym typeface="Source Sans Pro"/>
              </a:rPr>
              <a:t>f</a:t>
            </a:r>
            <a:endParaRPr i="1" sz="3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both together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42321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coin is one of these machines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If the coin is fair, it generates using the "distribution" of the universe as on the right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5390450" y="1192400"/>
            <a:ext cx="1629900" cy="32526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Heads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7020350" y="1192400"/>
            <a:ext cx="1629900" cy="32526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Tails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Random variables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formalization of this is called random variables.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We intuitively define two concepts: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 — the possible universe of what we can generate (events)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Probability distribution (or probability function) — the criterion by which things are generated (according to the weight/area of events)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By convention, the probability of the entire universe is 1. That is why it is often shown as a percentage.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bit of notation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the probability of an event </a:t>
            </a:r>
            <a:r>
              <a:rPr b="1" lang="en-GB"/>
              <a:t>e</a:t>
            </a:r>
            <a:r>
              <a:rPr lang="en-GB"/>
              <a:t> under a probability function </a:t>
            </a:r>
            <a:r>
              <a:rPr b="1" i="1" lang="en-GB"/>
              <a:t>f </a:t>
            </a:r>
            <a:r>
              <a:rPr lang="en-GB"/>
              <a:t>is </a:t>
            </a:r>
            <a:r>
              <a:rPr i="1" lang="en-GB"/>
              <a:t>p</a:t>
            </a:r>
            <a:r>
              <a:rPr lang="en-GB"/>
              <a:t>, which is part of the set of all possible events </a:t>
            </a:r>
            <a:r>
              <a:rPr b="1" lang="en-GB"/>
              <a:t>E</a:t>
            </a:r>
            <a:r>
              <a:rPr lang="en-GB"/>
              <a:t>. Then we can write.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-GB" sz="2000"/>
              <a:t>f</a:t>
            </a:r>
            <a:r>
              <a:rPr lang="en-GB" sz="2000"/>
              <a:t>(</a:t>
            </a:r>
            <a:r>
              <a:rPr b="1" lang="en-GB" sz="2000"/>
              <a:t>e</a:t>
            </a:r>
            <a:r>
              <a:rPr lang="en-GB" sz="2000"/>
              <a:t>) = </a:t>
            </a:r>
            <a:r>
              <a:rPr i="1" lang="en-GB" sz="2000"/>
              <a:t>p</a:t>
            </a:r>
            <a:endParaRPr i="1"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It is common to omit that </a:t>
            </a:r>
            <a:r>
              <a:rPr b="1" i="1" lang="en-GB"/>
              <a:t>f</a:t>
            </a:r>
            <a:r>
              <a:rPr lang="en-GB"/>
              <a:t> is the function, and to simply write it as the probability of the event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2000"/>
              <a:t>P</a:t>
            </a:r>
            <a:r>
              <a:rPr lang="en-GB" sz="2000"/>
              <a:t>(</a:t>
            </a:r>
            <a:r>
              <a:rPr b="1" lang="en-GB" sz="2000"/>
              <a:t>e</a:t>
            </a:r>
            <a:r>
              <a:rPr lang="en-GB" sz="2000"/>
              <a:t>) = </a:t>
            </a:r>
            <a:r>
              <a:rPr i="1" lang="en-GB" sz="2000"/>
              <a:t>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 to the coin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42321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the case of the coin, since there are only two possible events, it is enough to define the probability of one of the two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P(Heads) = 1 − P(Tails) = </a:t>
            </a:r>
            <a:r>
              <a:rPr i="1" lang="en-GB"/>
              <a:t>p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So the probability function is completely defined by </a:t>
            </a:r>
            <a:r>
              <a:rPr i="1" lang="en-GB"/>
              <a:t>p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This is called a "parameter"</a:t>
            </a: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5390450" y="1192400"/>
            <a:ext cx="1629900" cy="32526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Heads</a:t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7020350" y="1192400"/>
            <a:ext cx="1629900" cy="32526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Tails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 to the coin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42321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the coin to be fair, the probabilities of the two events must be equal.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/>
              <a:t>p = 1−p = </a:t>
            </a:r>
            <a:r>
              <a:rPr i="1" lang="en-GB"/>
              <a:t>1/2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But it doesn't have to be that way. We could have different values of </a:t>
            </a:r>
            <a:r>
              <a:rPr i="1" lang="en-GB"/>
              <a:t>p</a:t>
            </a:r>
            <a:endParaRPr i="1"/>
          </a:p>
        </p:txBody>
      </p:sp>
      <p:sp>
        <p:nvSpPr>
          <p:cNvPr id="109" name="Google Shape;109;p20"/>
          <p:cNvSpPr/>
          <p:nvPr/>
        </p:nvSpPr>
        <p:spPr>
          <a:xfrm>
            <a:off x="5390450" y="1192400"/>
            <a:ext cx="3259800" cy="32526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Heads</a:t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6989625" y="1192400"/>
            <a:ext cx="1660800" cy="32526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Tails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Conditional probability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Varying </a:t>
            </a:r>
            <a:r>
              <a:rPr i="1" lang="en-GB"/>
              <a:t>p</a:t>
            </a:r>
            <a:endParaRPr i="1"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What if </a:t>
            </a:r>
            <a:r>
              <a:rPr i="1" lang="en-GB"/>
              <a:t>p</a:t>
            </a:r>
            <a:r>
              <a:rPr lang="en-GB"/>
              <a:t> is also generated by a random variable?</a:t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303375" y="2965725"/>
            <a:ext cx="1474500" cy="14253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P(p)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3627975" y="2289725"/>
            <a:ext cx="2298900" cy="2222100"/>
          </a:xfrm>
          <a:prstGeom prst="cube">
            <a:avLst>
              <a:gd fmla="val 25000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P(Coin)</a:t>
            </a:r>
            <a:endParaRPr sz="2100"/>
          </a:p>
        </p:txBody>
      </p:sp>
      <p:cxnSp>
        <p:nvCxnSpPr>
          <p:cNvPr id="124" name="Google Shape;124;p22"/>
          <p:cNvCxnSpPr>
            <a:endCxn id="123" idx="2"/>
          </p:cNvCxnSpPr>
          <p:nvPr/>
        </p:nvCxnSpPr>
        <p:spPr>
          <a:xfrm>
            <a:off x="1799175" y="3678538"/>
            <a:ext cx="182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22"/>
          <p:cNvSpPr txBox="1"/>
          <p:nvPr/>
        </p:nvSpPr>
        <p:spPr>
          <a:xfrm>
            <a:off x="2483925" y="3171425"/>
            <a:ext cx="438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900">
                <a:latin typeface="Source Sans Pro"/>
                <a:ea typeface="Source Sans Pro"/>
                <a:cs typeface="Source Sans Pro"/>
                <a:sym typeface="Source Sans Pro"/>
              </a:rPr>
              <a:t>p</a:t>
            </a:r>
            <a:endParaRPr i="1" sz="19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26" name="Google Shape;126;p22"/>
          <p:cNvCxnSpPr/>
          <p:nvPr/>
        </p:nvCxnSpPr>
        <p:spPr>
          <a:xfrm>
            <a:off x="5919617" y="3630125"/>
            <a:ext cx="182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2"/>
          <p:cNvSpPr txBox="1"/>
          <p:nvPr/>
        </p:nvSpPr>
        <p:spPr>
          <a:xfrm>
            <a:off x="6474575" y="3171425"/>
            <a:ext cx="1611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Source Sans Pro"/>
                <a:ea typeface="Source Sans Pro"/>
                <a:cs typeface="Source Sans Pro"/>
                <a:sym typeface="Source Sans Pro"/>
              </a:rPr>
              <a:t>Heads/Tails</a:t>
            </a:r>
            <a:endParaRPr sz="19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Another way to see it</a:t>
            </a:r>
            <a:endParaRPr/>
          </a:p>
        </p:txBody>
      </p:sp>
      <p:sp>
        <p:nvSpPr>
          <p:cNvPr id="133" name="Google Shape;133;p23"/>
          <p:cNvSpPr/>
          <p:nvPr/>
        </p:nvSpPr>
        <p:spPr>
          <a:xfrm rot="5400000">
            <a:off x="3033900" y="1446375"/>
            <a:ext cx="2907000" cy="2907000"/>
          </a:xfrm>
          <a:prstGeom prst="rtTriangl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/>
          <p:nvPr/>
        </p:nvSpPr>
        <p:spPr>
          <a:xfrm rot="-5400000">
            <a:off x="3033900" y="1446375"/>
            <a:ext cx="2907000" cy="2907000"/>
          </a:xfrm>
          <a:prstGeom prst="rtTriangl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Heads</a:t>
            </a:r>
            <a:endParaRPr/>
          </a:p>
        </p:txBody>
      </p:sp>
      <p:cxnSp>
        <p:nvCxnSpPr>
          <p:cNvPr id="135" name="Google Shape;135;p23"/>
          <p:cNvCxnSpPr/>
          <p:nvPr/>
        </p:nvCxnSpPr>
        <p:spPr>
          <a:xfrm>
            <a:off x="3033900" y="4656675"/>
            <a:ext cx="292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3"/>
          <p:cNvSpPr/>
          <p:nvPr/>
        </p:nvSpPr>
        <p:spPr>
          <a:xfrm>
            <a:off x="4247300" y="4494400"/>
            <a:ext cx="437700" cy="31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/>
              <a:t>p</a:t>
            </a:r>
            <a:endParaRPr i="1" sz="1800"/>
          </a:p>
        </p:txBody>
      </p:sp>
      <p:sp>
        <p:nvSpPr>
          <p:cNvPr id="137" name="Google Shape;137;p23"/>
          <p:cNvSpPr/>
          <p:nvPr/>
        </p:nvSpPr>
        <p:spPr>
          <a:xfrm>
            <a:off x="4475425" y="1446375"/>
            <a:ext cx="77700" cy="2907000"/>
          </a:xfrm>
          <a:prstGeom prst="rect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</a:t>
            </a:r>
            <a:r>
              <a:rPr lang="en-GB"/>
              <a:t> notation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denote a dependence between variables as follows: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2000"/>
              <a:t>P(Coin | p)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Law of total probability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we have a partition of the universe A1, A2, …, An (non-intersecting sets whose union is the universe), then we can obtain the probability of another event from the conditionals.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2000"/>
              <a:t>P(B) = P(B|A1)P(A1) + P(B|A2)P(A2) + … + P(B|An)P(An)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Bayes' theorem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"Inverse" problems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825" y="1644225"/>
            <a:ext cx="4240350" cy="26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