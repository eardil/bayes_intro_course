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aleway-italic.fntdata"/><Relationship Id="rId10" Type="http://schemas.openxmlformats.org/officeDocument/2006/relationships/slide" Target="slides/slide4.xml"/><Relationship Id="rId32" Type="http://schemas.openxmlformats.org/officeDocument/2006/relationships/font" Target="fonts/Raleway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bca07b24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bca07b24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9d48f84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9d48f84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9c62073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9c62073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d48f84d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d48f84d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9c62073d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9c62073d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9c62073d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9c62073d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9c62073d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9c62073d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89d48f84d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89d48f84d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5fd89da1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45fd89da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9d48f84d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9d48f84d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9d48f84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9d48f84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9d48f84d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9d48f84d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89d48f84d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89d48f84d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9d48f84d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9d48f84d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9d48f84d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9d48f84d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9d48f84d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9d48f84d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89d48f84d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89d48f84d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9d48f84d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9d48f84d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9d48f84d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9d48f84d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9d48f84d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9d48f84d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89d48f84d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89d48f84d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89d48f84d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89d48f84d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89d48f84d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89d48f84d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2783" y="0"/>
            <a:ext cx="170121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2783" y="0"/>
            <a:ext cx="170121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2783" y="0"/>
            <a:ext cx="170121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2783" y="0"/>
            <a:ext cx="170121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2783" y="0"/>
            <a:ext cx="170121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1" name="Google Shape;10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2783" y="0"/>
            <a:ext cx="170121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2783" y="0"/>
            <a:ext cx="170121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Bayesian Statistics</a:t>
            </a:r>
            <a:endParaRPr/>
          </a:p>
        </p:txBody>
      </p:sp>
      <p:sp>
        <p:nvSpPr>
          <p:cNvPr id="115" name="Google Shape;115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Syllabus</a:t>
            </a:r>
            <a:endParaRPr/>
          </a:p>
        </p:txBody>
      </p:sp>
      <p:sp>
        <p:nvSpPr>
          <p:cNvPr id="121" name="Google Shape;121;p26"/>
          <p:cNvSpPr txBox="1"/>
          <p:nvPr>
            <p:ph idx="1" type="body"/>
          </p:nvPr>
        </p:nvSpPr>
        <p:spPr>
          <a:xfrm>
            <a:off x="311700" y="1396600"/>
            <a:ext cx="3972300" cy="341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Random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Probability distributions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Statistics, parameters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Bayesian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Generative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Likelihood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Prior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Simulation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4860000" y="1396600"/>
            <a:ext cx="3972300" cy="341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	Bayesian inference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Bayes'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Conjugate models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5.	MCMC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6.	Bayesian decision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Decision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Loss 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Hypothesis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Bayes factor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</a:t>
            </a:r>
            <a:endParaRPr/>
          </a:p>
        </p:txBody>
      </p:sp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Homework (10%)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Exam (Large homework)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Presentation</a:t>
            </a:r>
            <a:endParaRPr/>
          </a:p>
        </p:txBody>
      </p:sp>
      <p:grpSp>
        <p:nvGrpSpPr>
          <p:cNvPr id="129" name="Google Shape;129;p27"/>
          <p:cNvGrpSpPr/>
          <p:nvPr/>
        </p:nvGrpSpPr>
        <p:grpSpPr>
          <a:xfrm>
            <a:off x="1471929" y="2476750"/>
            <a:ext cx="6200146" cy="2590800"/>
            <a:chOff x="395904" y="2469775"/>
            <a:chExt cx="6200146" cy="2590800"/>
          </a:xfrm>
        </p:grpSpPr>
        <p:pic>
          <p:nvPicPr>
            <p:cNvPr id="130" name="Google Shape;13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7925" y="2469775"/>
              <a:ext cx="4048125" cy="259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5904" y="2469775"/>
              <a:ext cx="2158990" cy="2590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400"/>
              <a:t>Statistics Review </a:t>
            </a:r>
            <a:r>
              <a:rPr lang="en-GB" sz="3400"/>
              <a:t>Frequentist</a:t>
            </a:r>
            <a:endParaRPr sz="3400"/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372" y="1775425"/>
            <a:ext cx="4239701" cy="15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Coin example</a:t>
            </a:r>
            <a:endParaRPr/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Experiment: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flip a coin 10 times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Question: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Is the coin fair?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/>
              <a:t>Data: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Heads, Tails, Tails, Tails, Heads,</a:t>
            </a:r>
            <a:br>
              <a:rPr lang="en-GB"/>
            </a:br>
            <a:r>
              <a:rPr lang="en-GB"/>
              <a:t>Tails, Tails, Heads, Heads, Tails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30"/>
          <p:cNvPicPr preferRelativeResize="0"/>
          <p:nvPr/>
        </p:nvPicPr>
        <p:blipFill rotWithShape="1">
          <a:blip r:embed="rId3">
            <a:alphaModFix/>
          </a:blip>
          <a:srcRect b="0" l="21747" r="0" t="0"/>
          <a:stretch/>
        </p:blipFill>
        <p:spPr>
          <a:xfrm>
            <a:off x="4533250" y="1402750"/>
            <a:ext cx="4056550" cy="291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answer</a:t>
            </a:r>
            <a:endParaRPr/>
          </a:p>
        </p:txBody>
      </p:sp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Hypothesis</a:t>
            </a:r>
            <a:r>
              <a:rPr b="1" lang="en-GB"/>
              <a:t>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coin is fair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Data: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Heads, Tails, Tails, Tails, Heads,</a:t>
            </a:r>
            <a:br>
              <a:rPr lang="en-GB"/>
            </a:br>
            <a:r>
              <a:rPr lang="en-GB"/>
              <a:t>Tails, Tails, Heads, Heads, Tails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163" y="1773888"/>
            <a:ext cx="37338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procedure</a:t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3489475" y="2023900"/>
            <a:ext cx="1968000" cy="11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Likelihood model of the data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answer</a:t>
            </a:r>
            <a:endParaRPr/>
          </a:p>
        </p:txBody>
      </p:sp>
      <p:sp>
        <p:nvSpPr>
          <p:cNvPr id="168" name="Google Shape;168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Hypothesis: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coin is fair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Data: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Heads, Tails, Tails, Tails, Heads,</a:t>
            </a:r>
            <a:br>
              <a:rPr lang="en-GB"/>
            </a:br>
            <a:r>
              <a:rPr lang="en-GB"/>
              <a:t>Tails, Tails, Heads, Heads, Tails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Conclusion: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fail to reject the null hypothesis. Equivalently,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data do not provide sufficient evidence at the 5% level to conclude the coin is unfair (which is not the same as evidence that it is fair)</a:t>
            </a:r>
            <a:endParaRPr/>
          </a:p>
        </p:txBody>
      </p:sp>
      <p:pic>
        <p:nvPicPr>
          <p:cNvPr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163" y="1773888"/>
            <a:ext cx="37338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175" y="1773888"/>
            <a:ext cx="37338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answer</a:t>
            </a:r>
            <a:endParaRPr/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Hypothesis: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 coin is fair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Data: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Heads, Tails, Tails, Tails, Heads,</a:t>
            </a:r>
            <a:br>
              <a:rPr lang="en-GB"/>
            </a:br>
            <a:r>
              <a:rPr lang="en-GB"/>
              <a:t>Tails, Tails, Heads, Heads, Tails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Conclusion: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fail to reject the null hypothesis. Equivalently,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data do not provide sufficient evidence at the 5% level to conclude the coin is unfair (which is not the same as evidence that it is fair)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procedure</a:t>
            </a:r>
            <a:endParaRPr/>
          </a:p>
        </p:txBody>
      </p:sp>
      <p:sp>
        <p:nvSpPr>
          <p:cNvPr id="182" name="Google Shape;182;p35"/>
          <p:cNvSpPr/>
          <p:nvPr/>
        </p:nvSpPr>
        <p:spPr>
          <a:xfrm>
            <a:off x="3489475" y="2023900"/>
            <a:ext cx="1968000" cy="11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Likelihood model of the data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3" name="Google Shape;183;p35"/>
          <p:cNvSpPr/>
          <p:nvPr/>
        </p:nvSpPr>
        <p:spPr>
          <a:xfrm>
            <a:off x="6634400" y="2023900"/>
            <a:ext cx="1805700" cy="1186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H0 is rejected or</a:t>
            </a:r>
            <a:r>
              <a:rPr lang="en-GB"/>
              <a:t> </a:t>
            </a:r>
            <a:r>
              <a:rPr lang="en-GB"/>
              <a:t>not rejected</a:t>
            </a:r>
            <a:endParaRPr/>
          </a:p>
        </p:txBody>
      </p:sp>
      <p:cxnSp>
        <p:nvCxnSpPr>
          <p:cNvPr id="184" name="Google Shape;184;p35"/>
          <p:cNvCxnSpPr>
            <a:stCxn id="182" idx="3"/>
            <a:endCxn id="183" idx="2"/>
          </p:cNvCxnSpPr>
          <p:nvPr/>
        </p:nvCxnSpPr>
        <p:spPr>
          <a:xfrm>
            <a:off x="5457475" y="2617150"/>
            <a:ext cx="11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Confidence intervals</a:t>
            </a:r>
            <a:endParaRPr/>
          </a:p>
        </p:txBody>
      </p:sp>
      <p:sp>
        <p:nvSpPr>
          <p:cNvPr id="190" name="Google Shape;190;p36"/>
          <p:cNvSpPr/>
          <p:nvPr/>
        </p:nvSpPr>
        <p:spPr>
          <a:xfrm rot="5400000">
            <a:off x="4690200" y="3103500"/>
            <a:ext cx="181500" cy="162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3092700" y="4136825"/>
            <a:ext cx="3376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ource Sans Pro"/>
                <a:ea typeface="Source Sans Pro"/>
                <a:cs typeface="Source Sans Pro"/>
                <a:sym typeface="Source Sans Pro"/>
              </a:rPr>
              <a:t>The parameter is between 2 and 8 with 95% confidence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175" y="1346988"/>
            <a:ext cx="3441627" cy="24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procedure</a:t>
            </a: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3489475" y="2023900"/>
            <a:ext cx="1968000" cy="11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Likelihood model of the data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6634400" y="2023900"/>
            <a:ext cx="1805700" cy="1186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H0 is rejected or not rejected</a:t>
            </a:r>
            <a:endParaRPr/>
          </a:p>
        </p:txBody>
      </p:sp>
      <p:cxnSp>
        <p:nvCxnSpPr>
          <p:cNvPr id="200" name="Google Shape;200;p37"/>
          <p:cNvCxnSpPr>
            <a:stCxn id="198" idx="3"/>
            <a:endCxn id="199" idx="2"/>
          </p:cNvCxnSpPr>
          <p:nvPr/>
        </p:nvCxnSpPr>
        <p:spPr>
          <a:xfrm>
            <a:off x="5457475" y="2617150"/>
            <a:ext cx="11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37"/>
          <p:cNvSpPr/>
          <p:nvPr/>
        </p:nvSpPr>
        <p:spPr>
          <a:xfrm>
            <a:off x="6634400" y="3411575"/>
            <a:ext cx="1805700" cy="1186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Confidence </a:t>
            </a:r>
            <a:r>
              <a:rPr i="1" lang="en-GB">
                <a:solidFill>
                  <a:schemeClr val="dk2"/>
                </a:solidFill>
              </a:rPr>
              <a:t>intervals</a:t>
            </a:r>
            <a:endParaRPr/>
          </a:p>
        </p:txBody>
      </p:sp>
      <p:cxnSp>
        <p:nvCxnSpPr>
          <p:cNvPr id="202" name="Google Shape;202;p37"/>
          <p:cNvCxnSpPr>
            <a:stCxn id="198" idx="3"/>
            <a:endCxn id="201" idx="2"/>
          </p:cNvCxnSpPr>
          <p:nvPr/>
        </p:nvCxnSpPr>
        <p:spPr>
          <a:xfrm>
            <a:off x="5457475" y="2617150"/>
            <a:ext cx="1176900" cy="1387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Confidence intervals — Meaning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11700" y="1152475"/>
            <a:ext cx="3999900" cy="3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a 95% confidence interval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If we ran 100 identical experiments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u="sng"/>
              <a:t>And the null hypothesis were true</a:t>
            </a:r>
            <a:endParaRPr u="sng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Then 95% of the time the value would fall in that interval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Colloquial interpretation: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Either the true parameter is there or we had very bad luck in our experiment</a:t>
            </a:r>
            <a:endParaRPr/>
          </a:p>
        </p:txBody>
      </p:sp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163" y="1773888"/>
            <a:ext cx="37338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Instead of running 10 experiments...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run a single experiment of 1000 coin flips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 confidence interval is smaller</a:t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525" y="996297"/>
            <a:ext cx="2846750" cy="2026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1524" y="2985632"/>
            <a:ext cx="2846750" cy="1995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procedure</a:t>
            </a:r>
            <a:endParaRPr/>
          </a:p>
        </p:txBody>
      </p:sp>
      <p:sp>
        <p:nvSpPr>
          <p:cNvPr id="223" name="Google Shape;223;p40"/>
          <p:cNvSpPr/>
          <p:nvPr/>
        </p:nvSpPr>
        <p:spPr>
          <a:xfrm>
            <a:off x="3489475" y="2023900"/>
            <a:ext cx="1968000" cy="11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Likelihood model of the data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634400" y="2023900"/>
            <a:ext cx="1805700" cy="1186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H0 is rejected or not rejected</a:t>
            </a:r>
            <a:endParaRPr/>
          </a:p>
        </p:txBody>
      </p:sp>
      <p:cxnSp>
        <p:nvCxnSpPr>
          <p:cNvPr id="225" name="Google Shape;225;p40"/>
          <p:cNvCxnSpPr>
            <a:stCxn id="223" idx="3"/>
            <a:endCxn id="224" idx="2"/>
          </p:cNvCxnSpPr>
          <p:nvPr/>
        </p:nvCxnSpPr>
        <p:spPr>
          <a:xfrm>
            <a:off x="5457475" y="2617150"/>
            <a:ext cx="11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40"/>
          <p:cNvSpPr/>
          <p:nvPr/>
        </p:nvSpPr>
        <p:spPr>
          <a:xfrm>
            <a:off x="6634400" y="3411575"/>
            <a:ext cx="1805700" cy="1186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Confidence </a:t>
            </a:r>
            <a:r>
              <a:rPr i="1" lang="en-GB">
                <a:solidFill>
                  <a:schemeClr val="dk2"/>
                </a:solidFill>
              </a:rPr>
              <a:t>intervals</a:t>
            </a:r>
            <a:endParaRPr/>
          </a:p>
        </p:txBody>
      </p:sp>
      <p:cxnSp>
        <p:nvCxnSpPr>
          <p:cNvPr id="227" name="Google Shape;227;p40"/>
          <p:cNvCxnSpPr>
            <a:stCxn id="223" idx="3"/>
            <a:endCxn id="226" idx="2"/>
          </p:cNvCxnSpPr>
          <p:nvPr/>
        </p:nvCxnSpPr>
        <p:spPr>
          <a:xfrm>
            <a:off x="5457475" y="2617150"/>
            <a:ext cx="1176900" cy="1387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40"/>
          <p:cNvSpPr/>
          <p:nvPr/>
        </p:nvSpPr>
        <p:spPr>
          <a:xfrm>
            <a:off x="163050" y="2023900"/>
            <a:ext cx="2149500" cy="1186500"/>
          </a:xfrm>
          <a:prstGeom prst="trapezoid">
            <a:avLst>
              <a:gd fmla="val 25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of the test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How confident do I want/can I be in my answer?</a:t>
            </a:r>
            <a:endParaRPr sz="1200"/>
          </a:p>
        </p:txBody>
      </p:sp>
      <p:cxnSp>
        <p:nvCxnSpPr>
          <p:cNvPr id="229" name="Google Shape;229;p40"/>
          <p:cNvCxnSpPr>
            <a:stCxn id="228" idx="3"/>
            <a:endCxn id="223" idx="1"/>
          </p:cNvCxnSpPr>
          <p:nvPr/>
        </p:nvCxnSpPr>
        <p:spPr>
          <a:xfrm>
            <a:off x="2164238" y="2617150"/>
            <a:ext cx="132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with a die</a:t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/>
              <a:t>Experiment: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We roll a die 10 times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/>
              <a:t>Question: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Is the die fair?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/>
              <a:t>Data: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1, 5, 2, 5, 3, 2, 6, 3, 4, 4, 1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with a die</a:t>
            </a:r>
            <a:endParaRPr/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Experiment: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roll a die 10 times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Question: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Is the die fair?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Data: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1, 5, 2, 5, 3, 2, 6, 3, 4, 4, 1</a:t>
            </a:r>
            <a:endParaRPr/>
          </a:p>
        </p:txBody>
      </p:sp>
      <p:pic>
        <p:nvPicPr>
          <p:cNvPr id="242" name="Google Shape;2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875" y="975538"/>
            <a:ext cx="3770274" cy="377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Stated problems</a:t>
            </a:r>
            <a:endParaRPr/>
          </a:p>
        </p:txBody>
      </p:sp>
      <p:sp>
        <p:nvSpPr>
          <p:cNvPr id="248" name="Google Shape;248;p43"/>
          <p:cNvSpPr txBox="1"/>
          <p:nvPr>
            <p:ph idx="1" type="body"/>
          </p:nvPr>
        </p:nvSpPr>
        <p:spPr>
          <a:xfrm>
            <a:off x="311700" y="1152475"/>
            <a:ext cx="8520600" cy="3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interpretation is misleading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Reject vs do not reject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It says nothing about H0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Interpretation alone is not enough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Power must be computed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is permissive about modeling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We can compute things "easily" and interpret without worrying about the model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None of this is wrong </a:t>
            </a:r>
            <a:r>
              <a:rPr i="1" lang="en-GB"/>
              <a:t>per se</a:t>
            </a:r>
            <a:r>
              <a:rPr lang="en-GB"/>
              <a:t>. But it can cause problems in mechanical practice.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i="1" lang="en-GB"/>
              <a:t>p</a:t>
            </a:r>
            <a:r>
              <a:rPr i="1" lang="en-GB"/>
              <a:t>-hacking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Confusing the </a:t>
            </a:r>
            <a:r>
              <a:rPr i="1" lang="en-GB"/>
              <a:t>p</a:t>
            </a:r>
            <a:r>
              <a:rPr lang="en-GB"/>
              <a:t> value or confidence intervals with probability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Jumping quickly to compute metrics without thinking about the real mechanism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Motivation</a:t>
            </a:r>
            <a:endParaRPr sz="3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3400"/>
              <a:t>Bayesian</a:t>
            </a:r>
            <a:endParaRPr sz="3400"/>
          </a:p>
        </p:txBody>
      </p:sp>
      <p:pic>
        <p:nvPicPr>
          <p:cNvPr id="254" name="Google Shape;2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75" y="1263200"/>
            <a:ext cx="4240350" cy="26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Bayesian case</a:t>
            </a:r>
            <a:endParaRPr/>
          </a:p>
        </p:txBody>
      </p:sp>
      <p:sp>
        <p:nvSpPr>
          <p:cNvPr id="260" name="Google Shape;260;p45"/>
          <p:cNvSpPr txBox="1"/>
          <p:nvPr>
            <p:ph idx="1" type="body"/>
          </p:nvPr>
        </p:nvSpPr>
        <p:spPr>
          <a:xfrm>
            <a:off x="970875" y="2501775"/>
            <a:ext cx="2681700" cy="16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= Hypothesis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B = Data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P(B|A) = Likelihood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P(A) = Prior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P(A|B) = Posterior</a:t>
            </a:r>
            <a:endParaRPr/>
          </a:p>
        </p:txBody>
      </p:sp>
      <p:sp>
        <p:nvSpPr>
          <p:cNvPr id="261" name="Google Shape;261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What you get from Bayesian inference is a probability of the hypothesis given the data.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600"/>
              <a:t>Something that seems like a holy grail from the frequentist perspective.</a:t>
            </a:r>
            <a:endParaRPr sz="1600"/>
          </a:p>
        </p:txBody>
      </p:sp>
      <p:pic>
        <p:nvPicPr>
          <p:cNvPr id="262" name="Google Shape;262;p45"/>
          <p:cNvPicPr preferRelativeResize="0"/>
          <p:nvPr/>
        </p:nvPicPr>
        <p:blipFill rotWithShape="1">
          <a:blip r:embed="rId3">
            <a:alphaModFix/>
          </a:blip>
          <a:srcRect b="16650" l="0" r="0" t="20520"/>
          <a:stretch/>
        </p:blipFill>
        <p:spPr>
          <a:xfrm>
            <a:off x="970875" y="1305075"/>
            <a:ext cx="2681550" cy="10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i="1" lang="en-GB"/>
              <a:t>Prior distribution</a:t>
            </a:r>
            <a:endParaRPr i="1"/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is the biggest difference from the frequentist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is often called "subjective"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Main criticism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Prior experience / expert opinion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Changes the conversation from:</a:t>
            </a:r>
            <a:r>
              <a:rPr lang="en-GB"/>
              <a:t> did you check your model's assumptions?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...to:</a:t>
            </a:r>
            <a:r>
              <a:rPr lang="en-GB"/>
              <a:t> why did you choose that distribution? why do you expect that to happen?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theory</a:t>
            </a:r>
            <a:endParaRPr/>
          </a:p>
        </p:txBody>
      </p:sp>
      <p:sp>
        <p:nvSpPr>
          <p:cNvPr id="274" name="Google Shape;274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Bayesian theory focuses on making rational decisions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It provides a consistent theoretical framework to justify these decisions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Need to define a utility (or loss) function</a:t>
            </a:r>
            <a:endParaRPr/>
          </a:p>
        </p:txBody>
      </p:sp>
      <p:pic>
        <p:nvPicPr>
          <p:cNvPr id="275" name="Google Shape;27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100" y="138750"/>
            <a:ext cx="3211975" cy="48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/>
          <p:nvPr>
            <p:ph type="title"/>
          </p:nvPr>
        </p:nvSpPr>
        <p:spPr>
          <a:xfrm>
            <a:off x="293425" y="110495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we discover?</a:t>
            </a:r>
            <a:endParaRPr/>
          </a:p>
        </p:txBody>
      </p:sp>
      <p:sp>
        <p:nvSpPr>
          <p:cNvPr id="281" name="Google Shape;281;p4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frequentist it is "easy" to model and compute, hard to interpret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In Bayesian it is hard to model and compute, the interpretation is "intuitive"</a:t>
            </a:r>
            <a:endParaRPr/>
          </a:p>
        </p:txBody>
      </p:sp>
      <p:sp>
        <p:nvSpPr>
          <p:cNvPr id="282" name="Google Shape;282;p48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Frequentist vs Bayesian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