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aleway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-italic.fntdata"/><Relationship Id="rId14" Type="http://schemas.openxmlformats.org/officeDocument/2006/relationships/slide" Target="slides/slide9.xml"/><Relationship Id="rId36" Type="http://schemas.openxmlformats.org/officeDocument/2006/relationships/font" Target="fonts/Raleway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aleway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890d6a376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890d6a37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90d6a376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90d6a376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90d6a376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90d6a376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90d6a376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890d6a376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890d6a376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890d6a376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90d6a376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90d6a376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90d6a376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90d6a376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90d6a376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90d6a376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90d6a376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90d6a376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90d6a376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90d6a376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90d6a3765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90d6a376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890d6a376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890d6a376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890d6a376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890d6a376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890d6a376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890d6a376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890d6a376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890d6a376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890d6a376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890d6a376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890d6a376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890d6a376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890d6a376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890d6a376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890d6a376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890d6a376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890d6a376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890d6a376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90d6a376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90d6a376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90d6a376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90d6a376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90d6a3765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90d6a3765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93113520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93113520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9311352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9311352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93113520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93113520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93113520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93113520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931135205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93113520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distributions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Reminder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crucial elements: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"Criterion" for generating objects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can define a criterion (function) as long as it satisfies: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probability of the entire universe (support) must be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All events must have positive probability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Parametric families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functions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always make a rule from scratch.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But there exist known functions for certain things that simplify behavior through parameters.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functions that define these random variables are usually called </a:t>
            </a:r>
            <a:r>
              <a:rPr i="1" lang="en-GB"/>
              <a:t>parametric families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-GB"/>
              <a:t>The question they answer is:</a:t>
            </a:r>
            <a:r>
              <a:rPr lang="en-GB"/>
              <a:t> what is the probability that the value </a:t>
            </a:r>
            <a:r>
              <a:rPr i="1" lang="en-GB"/>
              <a:t>x</a:t>
            </a:r>
            <a:r>
              <a:rPr lang="en-GB"/>
              <a:t> appears?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900"/>
              <a:t>Discrete distributions</a:t>
            </a:r>
            <a:endParaRPr sz="2900"/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15224" l="0" r="3754" t="10871"/>
          <a:stretch/>
        </p:blipFill>
        <p:spPr>
          <a:xfrm>
            <a:off x="0" y="1144550"/>
            <a:ext cx="4460700" cy="285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Coin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Instead of Heads and Tails think of "success" or "failure". Or better yet 1 and 0.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Experiment: Flip the coin once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With probability </a:t>
            </a:r>
            <a:r>
              <a:rPr i="1" lang="en-GB"/>
              <a:t>p</a:t>
            </a:r>
            <a:r>
              <a:rPr lang="en-GB"/>
              <a:t> we have success (1 comes up) and with probability 1−</a:t>
            </a:r>
            <a:r>
              <a:rPr i="1" lang="en-GB"/>
              <a:t>p</a:t>
            </a:r>
            <a:r>
              <a:rPr lang="en-GB"/>
              <a:t> we fail (0 comes up)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As a probability function:</a:t>
            </a:r>
            <a:r>
              <a:rPr lang="en-GB"/>
              <a:t> 1 has probability </a:t>
            </a:r>
            <a:r>
              <a:rPr i="1" lang="en-GB"/>
              <a:t>p</a:t>
            </a:r>
            <a:r>
              <a:rPr lang="en-GB"/>
              <a:t> and 0 has probability 1−</a:t>
            </a:r>
            <a:r>
              <a:rPr i="1" lang="en-GB"/>
              <a:t>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Or equivalently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Coin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Instead of Heads and Tails think of "success" or "failure". Or better yet 1 and 0.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Experiment: Flip the coin once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With probability </a:t>
            </a:r>
            <a:r>
              <a:rPr i="1" lang="en-GB"/>
              <a:t>p</a:t>
            </a:r>
            <a:r>
              <a:rPr lang="en-GB"/>
              <a:t> we have success (1 comes up) and with probability 1−</a:t>
            </a:r>
            <a:r>
              <a:rPr i="1" lang="en-GB"/>
              <a:t>p</a:t>
            </a:r>
            <a:r>
              <a:rPr lang="en-GB"/>
              <a:t> we fail (0 comes up)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As a probability function:</a:t>
            </a:r>
            <a:r>
              <a:rPr lang="en-GB"/>
              <a:t> 1 has probability </a:t>
            </a:r>
            <a:r>
              <a:rPr i="1" lang="en-GB"/>
              <a:t>p</a:t>
            </a:r>
            <a:r>
              <a:rPr lang="en-GB"/>
              <a:t> and 0 has probability 1−</a:t>
            </a:r>
            <a:r>
              <a:rPr i="1" lang="en-GB"/>
              <a:t>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Or equivalently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163" y="3600400"/>
            <a:ext cx="4241675" cy="9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Coin — Bernoulli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2233725"/>
            <a:ext cx="8520600" cy="23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Ideally an analytical function so we can do calculations with it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need an equation that gives us </a:t>
            </a:r>
            <a:r>
              <a:rPr i="1" lang="en-GB"/>
              <a:t>p</a:t>
            </a:r>
            <a:r>
              <a:rPr lang="en-GB"/>
              <a:t> if we put in a 1 and 1−</a:t>
            </a:r>
            <a:r>
              <a:rPr i="1" lang="en-GB"/>
              <a:t>p</a:t>
            </a:r>
            <a:r>
              <a:rPr lang="en-GB"/>
              <a:t> if we put in a 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Only valid on the support!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150" y="1152475"/>
            <a:ext cx="4241675" cy="9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4900" y="3290813"/>
            <a:ext cx="673417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Repeating the coin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we flip the coin many times (e.g. 10), we can ask: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What is the probability of 3 successes?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What is the support?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We have the probability of each success: </a:t>
            </a:r>
            <a:r>
              <a:rPr i="1" lang="en-GB"/>
              <a:t>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Repeating the coin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</a:rPr>
              <a:t>If we flip the coin many times (e.g. 10), we can ask:</a:t>
            </a:r>
            <a:endParaRPr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</a:rPr>
              <a:t>What is the probability of 3 successes?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</a:rPr>
              <a:t>We have the probability of each success: </a:t>
            </a:r>
            <a:r>
              <a:rPr i="1" lang="en-GB">
                <a:solidFill>
                  <a:srgbClr val="CCCCCC"/>
                </a:solidFill>
              </a:rPr>
              <a:t>p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Since each flip is independent, we can use the rule: P(A and B) = P(A)*P(B)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So P(3 successes) = </a:t>
            </a:r>
            <a:r>
              <a:rPr i="1" lang="en-GB"/>
              <a:t>p*p*p = p</a:t>
            </a:r>
            <a:r>
              <a:rPr baseline="30000" lang="en-GB"/>
              <a:t>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Repeating the coin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6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</a:rPr>
              <a:t>If we flip the coin many times (e.g. 10), we can ask:</a:t>
            </a:r>
            <a:endParaRPr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</a:rPr>
              <a:t>What is the probability of 3 successes?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</a:rPr>
              <a:t>We have the probability of each success: </a:t>
            </a:r>
            <a:r>
              <a:rPr i="1" lang="en-GB">
                <a:solidFill>
                  <a:srgbClr val="CCCCCC"/>
                </a:solidFill>
              </a:rPr>
              <a:t>p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Since each flip is independent, we can use the rule: P(A and B) = P(A)*P(B)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So P(3 successes) = </a:t>
            </a:r>
            <a:r>
              <a:rPr i="1" lang="en-GB"/>
              <a:t>p*p*p = p</a:t>
            </a:r>
            <a:r>
              <a:rPr baseline="30000" lang="en-GB"/>
              <a:t>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But we also need the other 7 flips to be failures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P(7 failures) = (1−p)*(1−p)*</a:t>
            </a:r>
            <a:r>
              <a:rPr lang="en-GB"/>
              <a:t>(1−p)*(1−p)*(1−p)*(1−p)*(1−p) = (1−p)</a:t>
            </a:r>
            <a:r>
              <a:rPr baseline="30000" lang="en-GB"/>
              <a:t>7</a:t>
            </a:r>
            <a:endParaRPr baseline="30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Repeating the coin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Thus: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P(3 successes then 7 failures) = p</a:t>
            </a:r>
            <a:r>
              <a:rPr baseline="30000" lang="en-GB"/>
              <a:t>3</a:t>
            </a:r>
            <a:r>
              <a:rPr lang="en-GB"/>
              <a:t>(1−p)</a:t>
            </a:r>
            <a:r>
              <a:rPr baseline="30000" lang="en-GB"/>
              <a:t>7</a:t>
            </a:r>
            <a:endParaRPr baseline="30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But it isn't the only way to get 3 successes and 7 failures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0001111111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0010111111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0011011111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….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Repeating the coin — Binomial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causes some counts of successes to occur more often than others: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If 10 successes, only one combination: 1111111111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If 9 successes, it can come out in 10 different ways: 0111111111, 1011111111, 1101111111, …, 1111111101, 1111111110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Repeating the coin — Binomial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This causes some counts of successes to occur more often than others:</a:t>
            </a:r>
            <a:endParaRPr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If 10 successes, only one combination: 1111111111</a:t>
            </a:r>
            <a:endParaRPr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If 9 successes, it can come out in 10 different ways: 0111111111, 1011111111, 1101111111, …, 1111111101, 1111111110</a:t>
            </a:r>
            <a:endParaRPr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For this there is the binomial coefficient. It counts combinations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In how many ways can we observe </a:t>
            </a:r>
            <a:r>
              <a:rPr i="1" lang="en-GB"/>
              <a:t>k</a:t>
            </a:r>
            <a:r>
              <a:rPr lang="en-GB"/>
              <a:t> successes in </a:t>
            </a:r>
            <a:r>
              <a:rPr i="1" lang="en-GB"/>
              <a:t>n</a:t>
            </a:r>
            <a:r>
              <a:rPr lang="en-GB"/>
              <a:t> experiments?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2013" y="3384125"/>
            <a:ext cx="50482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0300" y="4208638"/>
            <a:ext cx="4343400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Repeating the coin — Geometric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could also ask: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What is the probability of observing 9 failures before the first success?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What is the support?</a:t>
            </a:r>
            <a:endParaRPr b="1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Repeating the coin — Geometric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We could also ask:</a:t>
            </a:r>
            <a:endParaRPr>
              <a:solidFill>
                <a:srgbClr val="D9D9D9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What is the probability of observing 9 failures before the first success?</a:t>
            </a:r>
            <a:endParaRPr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Here order matters, only one option: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P(k=9; </a:t>
            </a:r>
            <a:r>
              <a:rPr i="1" lang="en-GB"/>
              <a:t>p</a:t>
            </a:r>
            <a:r>
              <a:rPr lang="en-GB"/>
              <a:t>=½) = (1−</a:t>
            </a:r>
            <a:r>
              <a:rPr i="1" lang="en-GB"/>
              <a:t>p</a:t>
            </a:r>
            <a:r>
              <a:rPr lang="en-GB"/>
              <a:t>)</a:t>
            </a:r>
            <a:r>
              <a:rPr baseline="30000" lang="en-GB"/>
              <a:t>9</a:t>
            </a:r>
            <a:r>
              <a:rPr i="1" lang="en-GB"/>
              <a:t>p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In general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P(k; </a:t>
            </a:r>
            <a:r>
              <a:rPr i="1" lang="en-GB"/>
              <a:t>p</a:t>
            </a:r>
            <a:r>
              <a:rPr lang="en-GB"/>
              <a:t>=½) = (1−</a:t>
            </a:r>
            <a:r>
              <a:rPr i="1" lang="en-GB"/>
              <a:t>p</a:t>
            </a:r>
            <a:r>
              <a:rPr lang="en-GB"/>
              <a:t>)</a:t>
            </a:r>
            <a:r>
              <a:rPr baseline="30000" lang="en-GB"/>
              <a:t>k</a:t>
            </a:r>
            <a:r>
              <a:rPr i="1" lang="en-GB"/>
              <a:t>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Discrete distributions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8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Bernoulli</a:t>
            </a:r>
            <a:r>
              <a:rPr lang="en-GB"/>
              <a:t> — Success or failure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Binomial</a:t>
            </a:r>
            <a:r>
              <a:rPr lang="en-GB"/>
              <a:t> — Number of successes in </a:t>
            </a:r>
            <a:r>
              <a:rPr i="1" lang="en-GB"/>
              <a:t>n</a:t>
            </a:r>
            <a:r>
              <a:rPr lang="en-GB"/>
              <a:t> trials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Geometric</a:t>
            </a:r>
            <a:r>
              <a:rPr lang="en-GB"/>
              <a:t> — Number of failures before the first success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Negative Binomial</a:t>
            </a:r>
            <a:r>
              <a:rPr lang="en-GB"/>
              <a:t> — Number of failures before observing </a:t>
            </a:r>
            <a:r>
              <a:rPr i="1" lang="en-GB"/>
              <a:t>r </a:t>
            </a:r>
            <a:r>
              <a:rPr lang="en-GB"/>
              <a:t>successes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Categorical</a:t>
            </a:r>
            <a:r>
              <a:rPr lang="en-GB"/>
              <a:t> — Generalization of Bernoulli (with more than 2 cases)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	Example: A person can be classified under some personality profile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Multinomial</a:t>
            </a:r>
            <a:r>
              <a:rPr lang="en-GB"/>
              <a:t> — Generalization of binomial (with more than 2 cases)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	Example: Distribution of personalities in a classroom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900"/>
              <a:t>Continuous distributions</a:t>
            </a:r>
            <a:endParaRPr sz="2900"/>
          </a:p>
        </p:txBody>
      </p:sp>
      <p:pic>
        <p:nvPicPr>
          <p:cNvPr id="165" name="Google Shape;165;p30"/>
          <p:cNvPicPr preferRelativeResize="0"/>
          <p:nvPr/>
        </p:nvPicPr>
        <p:blipFill rotWithShape="1">
          <a:blip r:embed="rId3">
            <a:alphaModFix/>
          </a:blip>
          <a:srcRect b="3176" l="0" r="0" t="0"/>
          <a:stretch/>
        </p:blipFill>
        <p:spPr>
          <a:xfrm>
            <a:off x="250125" y="1052913"/>
            <a:ext cx="4153625" cy="303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Discrete distributions arise from relatively simple processes found in reality.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Continuous distributions try to approximate behaviors (in real life there are no truly continuous measurements).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As in discrete, what guides us most is: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possible shapes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Uniform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Support: from </a:t>
            </a:r>
            <a:r>
              <a:rPr i="1" lang="en-GB"/>
              <a:t>a</a:t>
            </a:r>
            <a:r>
              <a:rPr lang="en-GB"/>
              <a:t> to </a:t>
            </a:r>
            <a:r>
              <a:rPr i="1" lang="en-GB"/>
              <a:t>b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Parameters: </a:t>
            </a:r>
            <a:r>
              <a:rPr i="1" lang="en-GB"/>
              <a:t>a</a:t>
            </a:r>
            <a:r>
              <a:rPr lang="en-GB"/>
              <a:t> and </a:t>
            </a:r>
            <a:r>
              <a:rPr i="1" lang="en-GB"/>
              <a:t>b</a:t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463" y="2272450"/>
            <a:ext cx="3571875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 distribution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Support: −infinity, infinity (all numbers)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Parameters: mu and sigma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Shape: Symmetric, unimodal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Example: Measurement errors</a:t>
            </a:r>
            <a:endParaRPr/>
          </a:p>
        </p:txBody>
      </p:sp>
      <p:pic>
        <p:nvPicPr>
          <p:cNvPr id="185" name="Google Shape;1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075" y="1752225"/>
            <a:ext cx="4857750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Gamma</a:t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Support: 0, infinity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Parameters: location, scale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Example: Reaction times</a:t>
            </a:r>
            <a:endParaRPr/>
          </a:p>
        </p:txBody>
      </p:sp>
      <p:pic>
        <p:nvPicPr>
          <p:cNvPr id="192" name="Google Shape;1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700" y="1781975"/>
            <a:ext cx="4339350" cy="325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Exponential</a:t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Support: 0 to infinity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Parameters: λ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Shape: decreasing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Example: Survival</a:t>
            </a:r>
            <a:endParaRPr/>
          </a:p>
        </p:txBody>
      </p:sp>
      <p:pic>
        <p:nvPicPr>
          <p:cNvPr id="199" name="Google Shape;199;p35"/>
          <p:cNvPicPr preferRelativeResize="0"/>
          <p:nvPr/>
        </p:nvPicPr>
        <p:blipFill rotWithShape="1">
          <a:blip r:embed="rId3">
            <a:alphaModFix/>
          </a:blip>
          <a:srcRect b="13528" l="0" r="0" t="15605"/>
          <a:stretch/>
        </p:blipFill>
        <p:spPr>
          <a:xfrm>
            <a:off x="4432325" y="1700150"/>
            <a:ext cx="4648200" cy="28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Beta</a:t>
            </a:r>
            <a:endParaRPr/>
          </a:p>
        </p:txBody>
      </p:sp>
      <p:sp>
        <p:nvSpPr>
          <p:cNvPr id="205" name="Google Shape;205;p36"/>
          <p:cNvSpPr txBox="1"/>
          <p:nvPr>
            <p:ph idx="1" type="body"/>
          </p:nvPr>
        </p:nvSpPr>
        <p:spPr>
          <a:xfrm>
            <a:off x="311700" y="1152475"/>
            <a:ext cx="465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Support: 0 to 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Parameters: alpha and beta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Examples: Fraction of a project's time taken by a development step. Probability</a:t>
            </a:r>
            <a:endParaRPr/>
          </a:p>
        </p:txBody>
      </p:sp>
      <p:pic>
        <p:nvPicPr>
          <p:cNvPr id="206" name="Google Shape;2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450" y="2248622"/>
            <a:ext cx="3511300" cy="281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Real-life examples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Olympic athletes' heights</a:t>
            </a:r>
            <a:endParaRPr/>
          </a:p>
        </p:txBody>
      </p:sp>
      <p:pic>
        <p:nvPicPr>
          <p:cNvPr id="217" name="Google Shape;21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0825"/>
            <a:ext cx="8606976" cy="377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5" y="1176141"/>
            <a:ext cx="9143999" cy="400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of calls in a Call Center</a:t>
            </a:r>
            <a:endParaRPr/>
          </a:p>
        </p:txBody>
      </p:sp>
      <p:pic>
        <p:nvPicPr>
          <p:cNvPr id="224" name="Google Shape;22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750" y="1137075"/>
            <a:ext cx="6786495" cy="37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Waiting times in a Call Center</a:t>
            </a:r>
            <a:endParaRPr/>
          </a:p>
        </p:txBody>
      </p:sp>
      <p:pic>
        <p:nvPicPr>
          <p:cNvPr id="230" name="Google Shape;23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75" y="1481038"/>
            <a:ext cx="4223425" cy="24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0"/>
          <p:cNvPicPr preferRelativeResize="0"/>
          <p:nvPr/>
        </p:nvPicPr>
        <p:blipFill rotWithShape="1">
          <a:blip r:embed="rId4">
            <a:alphaModFix/>
          </a:blip>
          <a:srcRect b="2017" l="1454" r="1600" t="3304"/>
          <a:stretch/>
        </p:blipFill>
        <p:spPr>
          <a:xfrm>
            <a:off x="4505350" y="1397950"/>
            <a:ext cx="4326950" cy="26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Oxytocin level</a:t>
            </a:r>
            <a:endParaRPr/>
          </a:p>
        </p:txBody>
      </p:sp>
      <p:pic>
        <p:nvPicPr>
          <p:cNvPr id="237" name="Google Shape;2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350" y="1556300"/>
            <a:ext cx="4211275" cy="26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