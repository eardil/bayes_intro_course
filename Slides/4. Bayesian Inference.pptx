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Raleway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bold.fntdata"/><Relationship Id="rId14" Type="http://schemas.openxmlformats.org/officeDocument/2006/relationships/slide" Target="slides/slide9.xml"/><Relationship Id="rId36" Type="http://schemas.openxmlformats.org/officeDocument/2006/relationships/font" Target="fonts/Raleway-regular.fntdata"/><Relationship Id="rId17" Type="http://schemas.openxmlformats.org/officeDocument/2006/relationships/slide" Target="slides/slide12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1.xml"/><Relationship Id="rId38" Type="http://schemas.openxmlformats.org/officeDocument/2006/relationships/font" Target="fonts/Raleway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8a77ff0ca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8a77ff0c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a77ff0ca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a77ff0ca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do inference, we assume there is a generative model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a77ff0caa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a77ff0caa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do inference, we assume there is a generative model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a77ff0caa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a77ff0caa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a77ff0caa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a77ff0caa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a77ff0caa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a77ff0caa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8a77ff0caa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8a77ff0caa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a77ff0caa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a77ff0caa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a77ff0ca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a77ff0ca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951622e5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951622e5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951622e5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951622e5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89e74bb92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89e74bb92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951622e5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8951622e5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951622e5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8951622e5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951622e5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951622e5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8951622e5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8951622e5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8951622e5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8951622e5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951622e5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951622e5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89e74bb92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89e74bb92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8951622e5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8951622e5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951622e5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951622e5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8c4575fe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8c4575fe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951622e5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951622e5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951622e5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951622e5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951622e5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951622e5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8951622e5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8951622e5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a4304bc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a4304bc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a4304bc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a4304bc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a4304bc6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8a4304bc6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Inference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Bayesian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would be statistics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216350" y="2600225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D9D9D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</a:t>
            </a:r>
            <a:endParaRPr sz="2100">
              <a:solidFill>
                <a:srgbClr val="D9D9D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66" name="Google Shape;66;p14"/>
          <p:cNvCxnSpPr>
            <a:stCxn id="67" idx="1"/>
          </p:cNvCxnSpPr>
          <p:nvPr/>
        </p:nvCxnSpPr>
        <p:spPr>
          <a:xfrm rot="10800000">
            <a:off x="5799425" y="2970125"/>
            <a:ext cx="1509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4"/>
          <p:cNvSpPr txBox="1"/>
          <p:nvPr/>
        </p:nvSpPr>
        <p:spPr>
          <a:xfrm>
            <a:off x="7308425" y="2600225"/>
            <a:ext cx="1736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,...</a:t>
            </a:r>
            <a:endParaRPr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361363" y="2125325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f(x|</a:t>
            </a:r>
            <a:r>
              <a:rPr i="1" lang="en-GB" sz="2300">
                <a:solidFill>
                  <a:srgbClr val="D9D9D9"/>
                </a:solidFill>
              </a:rPr>
              <a:t>params</a:t>
            </a:r>
            <a:r>
              <a:rPr i="1" lang="en-GB" sz="3300"/>
              <a:t>)</a:t>
            </a:r>
            <a:endParaRPr i="1" sz="3300"/>
          </a:p>
        </p:txBody>
      </p:sp>
      <p:cxnSp>
        <p:nvCxnSpPr>
          <p:cNvPr id="69" name="Google Shape;69;p14"/>
          <p:cNvCxnSpPr/>
          <p:nvPr/>
        </p:nvCxnSpPr>
        <p:spPr>
          <a:xfrm rot="10800000">
            <a:off x="1844063" y="2970125"/>
            <a:ext cx="1509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Inference</a:t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157763" y="3928800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D9D9D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</a:t>
            </a:r>
            <a:endParaRPr sz="2100">
              <a:solidFill>
                <a:srgbClr val="D9D9D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76" name="Google Shape;76;p15"/>
          <p:cNvCxnSpPr>
            <a:stCxn id="77" idx="1"/>
          </p:cNvCxnSpPr>
          <p:nvPr/>
        </p:nvCxnSpPr>
        <p:spPr>
          <a:xfrm flipH="1">
            <a:off x="5740838" y="3321600"/>
            <a:ext cx="1509000" cy="977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5"/>
          <p:cNvSpPr/>
          <p:nvPr/>
        </p:nvSpPr>
        <p:spPr>
          <a:xfrm>
            <a:off x="3302775" y="3453900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f(x|</a:t>
            </a:r>
            <a:r>
              <a:rPr i="1" lang="en-GB" sz="2300">
                <a:solidFill>
                  <a:srgbClr val="D9D9D9"/>
                </a:solidFill>
              </a:rPr>
              <a:t>params</a:t>
            </a:r>
            <a:r>
              <a:rPr i="1" lang="en-GB" sz="3300"/>
              <a:t>)</a:t>
            </a:r>
            <a:endParaRPr i="1" sz="3300"/>
          </a:p>
        </p:txBody>
      </p:sp>
      <p:cxnSp>
        <p:nvCxnSpPr>
          <p:cNvPr id="79" name="Google Shape;79;p15"/>
          <p:cNvCxnSpPr/>
          <p:nvPr/>
        </p:nvCxnSpPr>
        <p:spPr>
          <a:xfrm rot="10800000">
            <a:off x="1785475" y="4298700"/>
            <a:ext cx="1509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5"/>
          <p:cNvSpPr txBox="1"/>
          <p:nvPr/>
        </p:nvSpPr>
        <p:spPr>
          <a:xfrm>
            <a:off x="157525" y="1604088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Source Sans Pro"/>
                <a:ea typeface="Source Sans Pro"/>
                <a:cs typeface="Source Sans Pro"/>
                <a:sym typeface="Source Sans Pro"/>
              </a:rPr>
              <a:t>P(params)</a:t>
            </a:r>
            <a:endParaRPr sz="17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57763" y="1974000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D9D9D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</a:t>
            </a:r>
            <a:endParaRPr sz="2100">
              <a:solidFill>
                <a:srgbClr val="D9D9D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82" name="Google Shape;82;p15"/>
          <p:cNvCxnSpPr>
            <a:stCxn id="81" idx="3"/>
          </p:cNvCxnSpPr>
          <p:nvPr/>
        </p:nvCxnSpPr>
        <p:spPr>
          <a:xfrm>
            <a:off x="1777163" y="2343900"/>
            <a:ext cx="1525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5"/>
          <p:cNvCxnSpPr>
            <a:endCxn id="77" idx="1"/>
          </p:cNvCxnSpPr>
          <p:nvPr/>
        </p:nvCxnSpPr>
        <p:spPr>
          <a:xfrm>
            <a:off x="5724038" y="2343900"/>
            <a:ext cx="1525800" cy="977700"/>
          </a:xfrm>
          <a:prstGeom prst="curvedConnector3">
            <a:avLst>
              <a:gd fmla="val 51144" name="adj1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 txBox="1"/>
          <p:nvPr/>
        </p:nvSpPr>
        <p:spPr>
          <a:xfrm>
            <a:off x="7249838" y="2951700"/>
            <a:ext cx="1736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,...</a:t>
            </a:r>
            <a:endParaRPr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302775" y="1499100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f(x|</a:t>
            </a:r>
            <a:r>
              <a:rPr i="1" lang="en-GB" sz="2300">
                <a:solidFill>
                  <a:srgbClr val="D9D9D9"/>
                </a:solidFill>
              </a:rPr>
              <a:t>params</a:t>
            </a:r>
            <a:r>
              <a:rPr i="1" lang="en-GB" sz="3300"/>
              <a:t>)</a:t>
            </a:r>
            <a:endParaRPr i="1" sz="3300"/>
          </a:p>
        </p:txBody>
      </p:sp>
      <p:sp>
        <p:nvSpPr>
          <p:cNvPr id="85" name="Google Shape;85;p15"/>
          <p:cNvSpPr txBox="1"/>
          <p:nvPr/>
        </p:nvSpPr>
        <p:spPr>
          <a:xfrm>
            <a:off x="50275" y="3558900"/>
            <a:ext cx="1833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Source Sans Pro"/>
                <a:ea typeface="Source Sans Pro"/>
                <a:cs typeface="Source Sans Pro"/>
                <a:sym typeface="Source Sans Pro"/>
              </a:rPr>
              <a:t>P(params|data)</a:t>
            </a:r>
            <a:endParaRPr sz="17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Inference</a:t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157763" y="3928800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D9D9D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</a:t>
            </a:r>
            <a:endParaRPr sz="2100">
              <a:solidFill>
                <a:srgbClr val="D9D9D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2" name="Google Shape;92;p16"/>
          <p:cNvCxnSpPr>
            <a:stCxn id="93" idx="1"/>
          </p:cNvCxnSpPr>
          <p:nvPr/>
        </p:nvCxnSpPr>
        <p:spPr>
          <a:xfrm flipH="1">
            <a:off x="5740838" y="3321600"/>
            <a:ext cx="1509000" cy="9777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6"/>
          <p:cNvSpPr/>
          <p:nvPr/>
        </p:nvSpPr>
        <p:spPr>
          <a:xfrm>
            <a:off x="3302775" y="3453900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700"/>
              <a:t>f(</a:t>
            </a:r>
            <a:r>
              <a:rPr lang="en-GB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baseline="-25000" lang="en-GB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n-GB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r>
              <a:rPr lang="en-GB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r>
              <a:rPr lang="en-GB" sz="15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,...</a:t>
            </a:r>
            <a:r>
              <a:rPr i="1" lang="en-GB" sz="2700"/>
              <a:t>|</a:t>
            </a:r>
            <a:r>
              <a:rPr i="1" lang="en-GB" sz="1700">
                <a:solidFill>
                  <a:srgbClr val="D9D9D9"/>
                </a:solidFill>
              </a:rPr>
              <a:t>params</a:t>
            </a:r>
            <a:r>
              <a:rPr i="1" lang="en-GB" sz="2700"/>
              <a:t>)</a:t>
            </a:r>
            <a:endParaRPr i="1" sz="2700"/>
          </a:p>
        </p:txBody>
      </p:sp>
      <p:cxnSp>
        <p:nvCxnSpPr>
          <p:cNvPr id="95" name="Google Shape;95;p16"/>
          <p:cNvCxnSpPr/>
          <p:nvPr/>
        </p:nvCxnSpPr>
        <p:spPr>
          <a:xfrm rot="10800000">
            <a:off x="1785475" y="4298700"/>
            <a:ext cx="1509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6"/>
          <p:cNvSpPr txBox="1"/>
          <p:nvPr/>
        </p:nvSpPr>
        <p:spPr>
          <a:xfrm>
            <a:off x="157525" y="1604088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Source Sans Pro"/>
                <a:ea typeface="Source Sans Pro"/>
                <a:cs typeface="Source Sans Pro"/>
                <a:sym typeface="Source Sans Pro"/>
              </a:rPr>
              <a:t>P(params)</a:t>
            </a:r>
            <a:endParaRPr sz="17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57763" y="1974000"/>
            <a:ext cx="1619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D9D9D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Parameters</a:t>
            </a:r>
            <a:endParaRPr sz="2100">
              <a:solidFill>
                <a:srgbClr val="D9D9D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8" name="Google Shape;98;p16"/>
          <p:cNvCxnSpPr>
            <a:stCxn id="97" idx="3"/>
          </p:cNvCxnSpPr>
          <p:nvPr/>
        </p:nvCxnSpPr>
        <p:spPr>
          <a:xfrm>
            <a:off x="1777163" y="2343900"/>
            <a:ext cx="1525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6"/>
          <p:cNvCxnSpPr>
            <a:endCxn id="93" idx="1"/>
          </p:cNvCxnSpPr>
          <p:nvPr/>
        </p:nvCxnSpPr>
        <p:spPr>
          <a:xfrm>
            <a:off x="5724038" y="2343900"/>
            <a:ext cx="1525800" cy="977700"/>
          </a:xfrm>
          <a:prstGeom prst="curvedConnector3">
            <a:avLst>
              <a:gd fmla="val 51144" name="adj1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6"/>
          <p:cNvSpPr txBox="1"/>
          <p:nvPr/>
        </p:nvSpPr>
        <p:spPr>
          <a:xfrm>
            <a:off x="7249838" y="2951700"/>
            <a:ext cx="17364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,x</a:t>
            </a:r>
            <a:r>
              <a:rPr baseline="-25000" lang="en-GB" sz="2600"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r>
              <a:rPr lang="en-GB" sz="2600">
                <a:latin typeface="Source Sans Pro"/>
                <a:ea typeface="Source Sans Pro"/>
                <a:cs typeface="Source Sans Pro"/>
                <a:sym typeface="Source Sans Pro"/>
              </a:rPr>
              <a:t>,...</a:t>
            </a:r>
            <a:endParaRPr sz="26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3302775" y="1499100"/>
            <a:ext cx="2421300" cy="1689600"/>
          </a:xfrm>
          <a:prstGeom prst="cube">
            <a:avLst>
              <a:gd fmla="val 21478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300"/>
              <a:t>f(</a:t>
            </a:r>
            <a:r>
              <a:rPr i="1" lang="en-GB" sz="3300"/>
              <a:t>x|</a:t>
            </a:r>
            <a:r>
              <a:rPr i="1" lang="en-GB" sz="2300">
                <a:solidFill>
                  <a:srgbClr val="D9D9D9"/>
                </a:solidFill>
              </a:rPr>
              <a:t>params</a:t>
            </a:r>
            <a:r>
              <a:rPr i="1" lang="en-GB" sz="3300"/>
              <a:t>)</a:t>
            </a:r>
            <a:endParaRPr i="1" sz="3300"/>
          </a:p>
        </p:txBody>
      </p:sp>
      <p:sp>
        <p:nvSpPr>
          <p:cNvPr id="101" name="Google Shape;101;p16"/>
          <p:cNvSpPr txBox="1"/>
          <p:nvPr/>
        </p:nvSpPr>
        <p:spPr>
          <a:xfrm>
            <a:off x="50275" y="3558900"/>
            <a:ext cx="1833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Source Sans Pro"/>
                <a:ea typeface="Source Sans Pro"/>
                <a:cs typeface="Source Sans Pro"/>
                <a:sym typeface="Source Sans Pro"/>
              </a:rPr>
              <a:t>P(params|data)</a:t>
            </a:r>
            <a:endParaRPr sz="17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209375" y="1793600"/>
            <a:ext cx="1567800" cy="778200"/>
          </a:xfrm>
          <a:prstGeom prst="rect">
            <a:avLst/>
          </a:prstGeom>
          <a:solidFill>
            <a:srgbClr val="6384FF">
              <a:alpha val="849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Prior</a:t>
            </a:r>
            <a:endParaRPr b="1" sz="1600"/>
          </a:p>
        </p:txBody>
      </p:sp>
      <p:sp>
        <p:nvSpPr>
          <p:cNvPr id="103" name="Google Shape;103;p16"/>
          <p:cNvSpPr/>
          <p:nvPr/>
        </p:nvSpPr>
        <p:spPr>
          <a:xfrm>
            <a:off x="209375" y="3725650"/>
            <a:ext cx="1567800" cy="778200"/>
          </a:xfrm>
          <a:prstGeom prst="rect">
            <a:avLst/>
          </a:prstGeom>
          <a:solidFill>
            <a:srgbClr val="63FF7A">
              <a:alpha val="83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Posterior</a:t>
            </a:r>
            <a:endParaRPr b="1" sz="1600"/>
          </a:p>
        </p:txBody>
      </p:sp>
      <p:sp>
        <p:nvSpPr>
          <p:cNvPr id="104" name="Google Shape;104;p16"/>
          <p:cNvSpPr/>
          <p:nvPr/>
        </p:nvSpPr>
        <p:spPr>
          <a:xfrm>
            <a:off x="3302975" y="3803550"/>
            <a:ext cx="2064000" cy="1339800"/>
          </a:xfrm>
          <a:prstGeom prst="rect">
            <a:avLst/>
          </a:prstGeom>
          <a:solidFill>
            <a:srgbClr val="C27BA0">
              <a:alpha val="787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Likelihood</a:t>
            </a:r>
            <a:endParaRPr b="1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Bayes' theorem</a:t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250" y="1424150"/>
            <a:ext cx="4953500" cy="30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Bayes' theorem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250" y="1424150"/>
            <a:ext cx="4953500" cy="30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5590150" y="2322250"/>
            <a:ext cx="1567800" cy="778200"/>
          </a:xfrm>
          <a:prstGeom prst="rect">
            <a:avLst/>
          </a:prstGeom>
          <a:solidFill>
            <a:srgbClr val="6384FF">
              <a:alpha val="849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Prior</a:t>
            </a:r>
            <a:endParaRPr b="1" sz="1600"/>
          </a:p>
        </p:txBody>
      </p:sp>
      <p:sp>
        <p:nvSpPr>
          <p:cNvPr id="118" name="Google Shape;118;p18"/>
          <p:cNvSpPr/>
          <p:nvPr/>
        </p:nvSpPr>
        <p:spPr>
          <a:xfrm>
            <a:off x="2184425" y="2692775"/>
            <a:ext cx="1567800" cy="778200"/>
          </a:xfrm>
          <a:prstGeom prst="rect">
            <a:avLst/>
          </a:prstGeom>
          <a:solidFill>
            <a:srgbClr val="63FF7A">
              <a:alpha val="83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Posterior</a:t>
            </a:r>
            <a:endParaRPr b="1" sz="1600"/>
          </a:p>
        </p:txBody>
      </p:sp>
      <p:sp>
        <p:nvSpPr>
          <p:cNvPr id="119" name="Google Shape;119;p18"/>
          <p:cNvSpPr/>
          <p:nvPr/>
        </p:nvSpPr>
        <p:spPr>
          <a:xfrm>
            <a:off x="4022350" y="2322250"/>
            <a:ext cx="1567800" cy="778200"/>
          </a:xfrm>
          <a:prstGeom prst="rect">
            <a:avLst/>
          </a:prstGeom>
          <a:solidFill>
            <a:srgbClr val="C27BA0">
              <a:alpha val="787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Likelihood</a:t>
            </a:r>
            <a:endParaRPr b="1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Bayes' theorem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250" y="1424150"/>
            <a:ext cx="4953500" cy="30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5590150" y="2322250"/>
            <a:ext cx="1567800" cy="778200"/>
          </a:xfrm>
          <a:prstGeom prst="rect">
            <a:avLst/>
          </a:prstGeom>
          <a:solidFill>
            <a:srgbClr val="6384FF">
              <a:alpha val="849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Prior</a:t>
            </a:r>
            <a:endParaRPr b="1" sz="1600"/>
          </a:p>
        </p:txBody>
      </p:sp>
      <p:sp>
        <p:nvSpPr>
          <p:cNvPr id="127" name="Google Shape;127;p19"/>
          <p:cNvSpPr/>
          <p:nvPr/>
        </p:nvSpPr>
        <p:spPr>
          <a:xfrm>
            <a:off x="2184425" y="2692775"/>
            <a:ext cx="1567800" cy="778200"/>
          </a:xfrm>
          <a:prstGeom prst="rect">
            <a:avLst/>
          </a:prstGeom>
          <a:solidFill>
            <a:srgbClr val="63FF7A">
              <a:alpha val="83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Posterior</a:t>
            </a:r>
            <a:endParaRPr b="1" sz="1600"/>
          </a:p>
        </p:txBody>
      </p:sp>
      <p:sp>
        <p:nvSpPr>
          <p:cNvPr id="128" name="Google Shape;128;p19"/>
          <p:cNvSpPr/>
          <p:nvPr/>
        </p:nvSpPr>
        <p:spPr>
          <a:xfrm>
            <a:off x="4022350" y="2322250"/>
            <a:ext cx="1567800" cy="778200"/>
          </a:xfrm>
          <a:prstGeom prst="rect">
            <a:avLst/>
          </a:prstGeom>
          <a:solidFill>
            <a:srgbClr val="C27BA0">
              <a:alpha val="787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Likelihood</a:t>
            </a:r>
            <a:endParaRPr b="1" sz="1600"/>
          </a:p>
        </p:txBody>
      </p:sp>
      <p:sp>
        <p:nvSpPr>
          <p:cNvPr id="129" name="Google Shape;129;p19"/>
          <p:cNvSpPr txBox="1"/>
          <p:nvPr/>
        </p:nvSpPr>
        <p:spPr>
          <a:xfrm>
            <a:off x="2261225" y="4272475"/>
            <a:ext cx="62112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P(B) = P(B|A1)P(A1) + P(B|A2)P(A2) + … + P(B|An)P(An)</a:t>
            </a:r>
            <a:endParaRPr/>
          </a:p>
        </p:txBody>
      </p:sp>
      <p:cxnSp>
        <p:nvCxnSpPr>
          <p:cNvPr id="130" name="Google Shape;130;p19"/>
          <p:cNvCxnSpPr/>
          <p:nvPr/>
        </p:nvCxnSpPr>
        <p:spPr>
          <a:xfrm>
            <a:off x="5366825" y="3684900"/>
            <a:ext cx="0" cy="70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19"/>
          <p:cNvSpPr txBox="1"/>
          <p:nvPr/>
        </p:nvSpPr>
        <p:spPr>
          <a:xfrm>
            <a:off x="3521525" y="3898800"/>
            <a:ext cx="3690600" cy="2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Source Sans Pro"/>
                <a:ea typeface="Source Sans Pro"/>
                <a:cs typeface="Source Sans Pro"/>
                <a:sym typeface="Source Sans Pro"/>
              </a:rPr>
              <a:t>By Total Probability</a:t>
            </a:r>
            <a:endParaRPr sz="17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Bayes' theorem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250" y="1424150"/>
            <a:ext cx="4953500" cy="30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/>
          <p:nvPr/>
        </p:nvSpPr>
        <p:spPr>
          <a:xfrm>
            <a:off x="5590150" y="2322250"/>
            <a:ext cx="1567800" cy="778200"/>
          </a:xfrm>
          <a:prstGeom prst="rect">
            <a:avLst/>
          </a:prstGeom>
          <a:solidFill>
            <a:srgbClr val="6384FF">
              <a:alpha val="849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Prior</a:t>
            </a:r>
            <a:endParaRPr b="1" sz="1600"/>
          </a:p>
        </p:txBody>
      </p:sp>
      <p:sp>
        <p:nvSpPr>
          <p:cNvPr id="139" name="Google Shape;139;p20"/>
          <p:cNvSpPr/>
          <p:nvPr/>
        </p:nvSpPr>
        <p:spPr>
          <a:xfrm>
            <a:off x="2184425" y="2692775"/>
            <a:ext cx="1567800" cy="778200"/>
          </a:xfrm>
          <a:prstGeom prst="rect">
            <a:avLst/>
          </a:prstGeom>
          <a:solidFill>
            <a:srgbClr val="63FF7A">
              <a:alpha val="83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Posterior</a:t>
            </a:r>
            <a:endParaRPr b="1" sz="1600"/>
          </a:p>
        </p:txBody>
      </p:sp>
      <p:sp>
        <p:nvSpPr>
          <p:cNvPr id="140" name="Google Shape;140;p20"/>
          <p:cNvSpPr/>
          <p:nvPr/>
        </p:nvSpPr>
        <p:spPr>
          <a:xfrm>
            <a:off x="4022350" y="2322250"/>
            <a:ext cx="1567800" cy="778200"/>
          </a:xfrm>
          <a:prstGeom prst="rect">
            <a:avLst/>
          </a:prstGeom>
          <a:solidFill>
            <a:srgbClr val="C27BA0">
              <a:alpha val="787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Likelihood</a:t>
            </a:r>
            <a:endParaRPr b="1" sz="1600"/>
          </a:p>
        </p:txBody>
      </p:sp>
      <p:sp>
        <p:nvSpPr>
          <p:cNvPr id="141" name="Google Shape;141;p20"/>
          <p:cNvSpPr txBox="1"/>
          <p:nvPr/>
        </p:nvSpPr>
        <p:spPr>
          <a:xfrm>
            <a:off x="2261225" y="4272475"/>
            <a:ext cx="62112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P(B) = P(B|A1)P(A1) + P(B|A2)P(A2) + … + P(B|An)P(An)</a:t>
            </a:r>
            <a:endParaRPr/>
          </a:p>
        </p:txBody>
      </p:sp>
      <p:cxnSp>
        <p:nvCxnSpPr>
          <p:cNvPr id="142" name="Google Shape;142;p20"/>
          <p:cNvCxnSpPr/>
          <p:nvPr/>
        </p:nvCxnSpPr>
        <p:spPr>
          <a:xfrm>
            <a:off x="5366825" y="3684900"/>
            <a:ext cx="0" cy="70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0"/>
          <p:cNvSpPr txBox="1"/>
          <p:nvPr/>
        </p:nvSpPr>
        <p:spPr>
          <a:xfrm>
            <a:off x="3521525" y="3898800"/>
            <a:ext cx="3690600" cy="2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Source Sans Pro"/>
                <a:ea typeface="Source Sans Pro"/>
                <a:cs typeface="Source Sans Pro"/>
                <a:sym typeface="Source Sans Pro"/>
              </a:rPr>
              <a:t>By Total Probability</a:t>
            </a:r>
            <a:endParaRPr sz="17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2261225" y="4603825"/>
            <a:ext cx="62112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000">
                <a:solidFill>
                  <a:srgbClr val="CCCC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P(B) = </a:t>
            </a:r>
            <a:r>
              <a:rPr lang="en-GB" sz="2600">
                <a:solidFill>
                  <a:srgbClr val="CCCC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∫</a:t>
            </a:r>
            <a:r>
              <a:rPr lang="en-GB" sz="2000">
                <a:solidFill>
                  <a:srgbClr val="CCCC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P(B|A)dA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Inference on the urn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/>
        </p:nvSpPr>
        <p:spPr>
          <a:xfrm>
            <a:off x="458625" y="1319375"/>
            <a:ext cx="5418600" cy="3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Imagine you are in a contest, you are given the urn with balls (white and black) and we have 100 turns.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Each turn consists of the following: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We say which color we think the next ball will be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We draw a ball from the urn and record the color, comparing with our "prediction"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Put the ball back in the urn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The urn is shuffled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prize equals the number of correct guesses.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6675" y="2234900"/>
            <a:ext cx="2961975" cy="182384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winning strategy?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Decisions...decisions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play the game, we have to decide which color to say next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Simplifying a little, let's say we want to decide which is more likely.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Urn 0: "White with probability ⅓"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Urn 1: "White with probability ⅔"</a:t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025" y="3319650"/>
            <a:ext cx="2961975" cy="182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319650"/>
            <a:ext cx="2961975" cy="1823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</a:t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Since at first we don't know, we are indifferent about "choosing" between either urn.</a:t>
            </a:r>
            <a:endParaRPr/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0850" y="2515350"/>
            <a:ext cx="2122300" cy="6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Generative model </a:t>
            </a:r>
            <a:r>
              <a:rPr b="0" lang="en-GB"/>
              <a:t>[notebook]</a:t>
            </a:r>
            <a:endParaRPr b="0"/>
          </a:p>
        </p:txBody>
      </p:sp>
      <p:sp>
        <p:nvSpPr>
          <p:cNvPr id="177" name="Google Shape;177;p25"/>
          <p:cNvSpPr/>
          <p:nvPr/>
        </p:nvSpPr>
        <p:spPr>
          <a:xfrm>
            <a:off x="374575" y="2571750"/>
            <a:ext cx="2010300" cy="79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</a:rPr>
              <a:t>p~</a:t>
            </a:r>
            <a:r>
              <a:rPr lang="en-GB" sz="1700">
                <a:solidFill>
                  <a:srgbClr val="FFFFFF"/>
                </a:solidFill>
              </a:rPr>
              <a:t>Bernoulli(Hypot)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3556225" y="2571750"/>
            <a:ext cx="2010300" cy="79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</a:rPr>
              <a:t>color~</a:t>
            </a:r>
            <a:r>
              <a:rPr lang="en-GB" sz="1700">
                <a:solidFill>
                  <a:srgbClr val="FFFFFF"/>
                </a:solidFill>
              </a:rPr>
              <a:t>Bernoulli(p)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6737875" y="2571750"/>
            <a:ext cx="2010300" cy="79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</a:rPr>
              <a:t>Colors</a:t>
            </a:r>
            <a:endParaRPr sz="1700">
              <a:solidFill>
                <a:srgbClr val="FFFFFF"/>
              </a:solidFill>
            </a:endParaRPr>
          </a:p>
        </p:txBody>
      </p:sp>
      <p:cxnSp>
        <p:nvCxnSpPr>
          <p:cNvPr id="180" name="Google Shape;180;p25"/>
          <p:cNvCxnSpPr>
            <a:stCxn id="177" idx="3"/>
            <a:endCxn id="178" idx="1"/>
          </p:cNvCxnSpPr>
          <p:nvPr/>
        </p:nvCxnSpPr>
        <p:spPr>
          <a:xfrm>
            <a:off x="2384875" y="2966850"/>
            <a:ext cx="117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5"/>
          <p:cNvCxnSpPr>
            <a:endCxn id="179" idx="1"/>
          </p:cNvCxnSpPr>
          <p:nvPr/>
        </p:nvCxnSpPr>
        <p:spPr>
          <a:xfrm>
            <a:off x="5566375" y="2966850"/>
            <a:ext cx="117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Let's say we follow a random strategy while we generate data.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After</a:t>
            </a:r>
            <a:r>
              <a:rPr lang="en-GB"/>
              <a:t> 10 trials, we have this: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D=(White, Black, Black, White, Black, Black, Black, White, Black, Black)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</a:t>
            </a:r>
            <a:endParaRPr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Bayes' theorem to update our belief.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We just need the likelihood.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Since we return the ball to the urn each trial, we can say that </a:t>
            </a:r>
            <a:r>
              <a:rPr b="1" lang="en-GB"/>
              <a:t>given the hypothesis</a:t>
            </a:r>
            <a:r>
              <a:rPr lang="en-GB"/>
              <a:t>, the data are independent.</a:t>
            </a:r>
            <a:endParaRPr/>
          </a:p>
        </p:txBody>
      </p:sp>
      <p:pic>
        <p:nvPicPr>
          <p:cNvPr id="194" name="Google Shape;194;p27"/>
          <p:cNvPicPr preferRelativeResize="0"/>
          <p:nvPr/>
        </p:nvPicPr>
        <p:blipFill rotWithShape="1">
          <a:blip r:embed="rId3">
            <a:alphaModFix/>
          </a:blip>
          <a:srcRect b="0" l="0" r="32249" t="0"/>
          <a:stretch/>
        </p:blipFill>
        <p:spPr>
          <a:xfrm>
            <a:off x="3253337" y="2130438"/>
            <a:ext cx="2637325" cy="5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8736" y="3726150"/>
            <a:ext cx="4326528" cy="5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Posterior</a:t>
            </a:r>
            <a:endParaRPr/>
          </a:p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Now we can compute the posterior</a:t>
            </a:r>
            <a:endParaRPr/>
          </a:p>
        </p:txBody>
      </p:sp>
      <p:pic>
        <p:nvPicPr>
          <p:cNvPr id="202" name="Google Shape;202;p28"/>
          <p:cNvPicPr preferRelativeResize="0"/>
          <p:nvPr/>
        </p:nvPicPr>
        <p:blipFill rotWithShape="1">
          <a:blip r:embed="rId3">
            <a:alphaModFix/>
          </a:blip>
          <a:srcRect b="0" l="0" r="0" t="35691"/>
          <a:stretch/>
        </p:blipFill>
        <p:spPr>
          <a:xfrm>
            <a:off x="1235500" y="2261175"/>
            <a:ext cx="6673000" cy="13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probability</a:t>
            </a:r>
            <a:r>
              <a:rPr b="0" lang="en-GB"/>
              <a:t> [notebook]</a:t>
            </a:r>
            <a:endParaRPr b="0"/>
          </a:p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2768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only thing we need is the denominator so that it sums to 1.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By the Law of Total Probability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then:</a:t>
            </a:r>
            <a:endParaRPr/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350" y="2208150"/>
            <a:ext cx="3755800" cy="1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5800" y="4104075"/>
            <a:ext cx="1452400" cy="72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Predictive</a:t>
            </a:r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we actually want is not the probability of the urns, but of the colors.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By total probability</a:t>
            </a:r>
            <a:endParaRPr/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8650" y="2661175"/>
            <a:ext cx="4026701" cy="8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Predictive </a:t>
            </a:r>
            <a:r>
              <a:rPr b="0" lang="en-GB"/>
              <a:t>[notebook]</a:t>
            </a:r>
            <a:endParaRPr b="0"/>
          </a:p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get the prior predictive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And the posterior as well</a:t>
            </a:r>
            <a:endParaRPr/>
          </a:p>
        </p:txBody>
      </p:sp>
      <p:pic>
        <p:nvPicPr>
          <p:cNvPr id="224" name="Google Shape;22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100" y="1667350"/>
            <a:ext cx="2487800" cy="103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0733" y="3532925"/>
            <a:ext cx="2762534" cy="10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Going continuous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Going continuous</a:t>
            </a:r>
            <a:endParaRPr/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700" y="1582800"/>
            <a:ext cx="556260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Likelihood </a:t>
            </a:r>
            <a:r>
              <a:rPr b="0" lang="en-GB"/>
              <a:t>[notebook]</a:t>
            </a:r>
            <a:endParaRPr b="0"/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likelihood remains, since the data are binary: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 With the above, the prior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34"/>
          <p:cNvPicPr preferRelativeResize="0"/>
          <p:nvPr/>
        </p:nvPicPr>
        <p:blipFill rotWithShape="1">
          <a:blip r:embed="rId3">
            <a:alphaModFix/>
          </a:blip>
          <a:srcRect b="0" l="29624" r="31150" t="58561"/>
          <a:stretch/>
        </p:blipFill>
        <p:spPr>
          <a:xfrm>
            <a:off x="3141346" y="1912625"/>
            <a:ext cx="2861310" cy="6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3592" y="3556325"/>
            <a:ext cx="5136816" cy="6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Generative model </a:t>
            </a:r>
            <a:r>
              <a:rPr b="0" lang="en-GB"/>
              <a:t>Beta-Binomial</a:t>
            </a:r>
            <a:endParaRPr b="0"/>
          </a:p>
        </p:txBody>
      </p:sp>
      <p:sp>
        <p:nvSpPr>
          <p:cNvPr id="250" name="Google Shape;250;p35"/>
          <p:cNvSpPr/>
          <p:nvPr/>
        </p:nvSpPr>
        <p:spPr>
          <a:xfrm>
            <a:off x="374575" y="2571750"/>
            <a:ext cx="2010300" cy="79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</a:rPr>
              <a:t>p~Beta(1,1)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251" name="Google Shape;251;p35"/>
          <p:cNvSpPr/>
          <p:nvPr/>
        </p:nvSpPr>
        <p:spPr>
          <a:xfrm>
            <a:off x="3556225" y="2571750"/>
            <a:ext cx="2010300" cy="79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</a:rPr>
              <a:t>color~Bernoulli(p)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252" name="Google Shape;252;p35"/>
          <p:cNvSpPr/>
          <p:nvPr/>
        </p:nvSpPr>
        <p:spPr>
          <a:xfrm>
            <a:off x="6737875" y="2571750"/>
            <a:ext cx="2010300" cy="79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FFFFFF"/>
                </a:solidFill>
              </a:rPr>
              <a:t>Colors</a:t>
            </a:r>
            <a:endParaRPr sz="1700">
              <a:solidFill>
                <a:srgbClr val="FFFFFF"/>
              </a:solidFill>
            </a:endParaRPr>
          </a:p>
        </p:txBody>
      </p:sp>
      <p:cxnSp>
        <p:nvCxnSpPr>
          <p:cNvPr id="253" name="Google Shape;253;p35"/>
          <p:cNvCxnSpPr>
            <a:stCxn id="250" idx="3"/>
            <a:endCxn id="251" idx="1"/>
          </p:cNvCxnSpPr>
          <p:nvPr/>
        </p:nvCxnSpPr>
        <p:spPr>
          <a:xfrm>
            <a:off x="2384875" y="2966850"/>
            <a:ext cx="117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35"/>
          <p:cNvCxnSpPr>
            <a:endCxn id="252" idx="1"/>
          </p:cNvCxnSpPr>
          <p:nvPr/>
        </p:nvCxnSpPr>
        <p:spPr>
          <a:xfrm>
            <a:off x="5566375" y="2966850"/>
            <a:ext cx="117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Likelihood of the data</a:t>
            </a:r>
            <a:endParaRPr/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Recalling the above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We can write the likelihood as a function of the data as</a:t>
            </a:r>
            <a:endParaRPr/>
          </a:p>
        </p:txBody>
      </p:sp>
      <p:pic>
        <p:nvPicPr>
          <p:cNvPr id="261" name="Google Shape;26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8325" y="1635700"/>
            <a:ext cx="3347349" cy="4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200" y="3598750"/>
            <a:ext cx="1711600" cy="37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7450" y="4154375"/>
            <a:ext cx="769100" cy="4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6"/>
          <p:cNvPicPr preferRelativeResize="0"/>
          <p:nvPr/>
        </p:nvPicPr>
        <p:blipFill rotWithShape="1">
          <a:blip r:embed="rId6">
            <a:alphaModFix/>
          </a:blip>
          <a:srcRect b="0" l="29624" r="31150" t="58561"/>
          <a:stretch/>
        </p:blipFill>
        <p:spPr>
          <a:xfrm>
            <a:off x="3141346" y="2812162"/>
            <a:ext cx="2861310" cy="6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Obtaining the posterior </a:t>
            </a:r>
            <a:r>
              <a:rPr b="0" lang="en-GB"/>
              <a:t>[notebook]</a:t>
            </a:r>
            <a:endParaRPr b="0"/>
          </a:p>
        </p:txBody>
      </p:sp>
      <p:sp>
        <p:nvSpPr>
          <p:cNvPr id="270" name="Google Shape;27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Bayes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Simplifying</a:t>
            </a:r>
            <a:endParaRPr/>
          </a:p>
        </p:txBody>
      </p:sp>
      <p:pic>
        <p:nvPicPr>
          <p:cNvPr id="271" name="Google Shape;2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949" y="1788450"/>
            <a:ext cx="5192099" cy="36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1577" y="3680850"/>
            <a:ext cx="2920850" cy="4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Conjugate models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Definition</a:t>
            </a:r>
            <a:endParaRPr/>
          </a:p>
        </p:txBody>
      </p:sp>
      <p:sp>
        <p:nvSpPr>
          <p:cNvPr id="283" name="Google Shape;28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conjugate model is a pair of parametric families Prior–Likelihood such that, when updating with data, the posterior belongs to the same parametric family as the prior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Example: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Beta-Binomial -&amp;gt; Beta posterior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Bayes Factor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Definition</a:t>
            </a:r>
            <a:endParaRPr/>
          </a:p>
        </p:txBody>
      </p:sp>
      <p:sp>
        <p:nvSpPr>
          <p:cNvPr id="294" name="Google Shape;29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Bayes factor is given by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It represents the ratio between the evidence under the alternative hypothesis vs the null</a:t>
            </a:r>
            <a:endParaRPr/>
          </a:p>
        </p:txBody>
      </p:sp>
      <p:pic>
        <p:nvPicPr>
          <p:cNvPr id="295" name="Google Shape;29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163" y="1841800"/>
            <a:ext cx="329565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Approximation of the Bayes Factor</a:t>
            </a:r>
            <a:endParaRPr/>
          </a:p>
        </p:txBody>
      </p:sp>
      <p:sp>
        <p:nvSpPr>
          <p:cNvPr id="301" name="Google Shape;30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We can approximate it with the "null" value under the prior (centered on the null value) vs the "null" value under the posterior</a:t>
            </a:r>
            <a:endParaRPr/>
          </a:p>
        </p:txBody>
      </p:sp>
      <p:pic>
        <p:nvPicPr>
          <p:cNvPr id="302" name="Google Shape;30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725" y="2143225"/>
            <a:ext cx="4618550" cy="285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