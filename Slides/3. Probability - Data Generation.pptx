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8a69785d7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8a69785d7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a69785d7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a69785d7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a69785d7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a69785d7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a69785d7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8a69785d7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a69785d7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a69785d7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8a69785d7c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8a69785d7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a69785d7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a69785d7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a69785d7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a69785d7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a69785d7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a69785d7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a69785d7c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a69785d7c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a69785d7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8a69785d7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8a69785d7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8a69785d7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8a69785d7c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8a69785d7c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8a69785d7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8a69785d7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a69785d7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a69785d7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8a69785d7c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8a69785d7c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8a69785d7c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8a69785d7c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8a69785d7c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8a69785d7c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generation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Urns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Urns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Imagine an urn with 10 balls: 5 white and 5 black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will use this urn to generate colors at random: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Draw a ball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Record the color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Put it back and shuffle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788" y="2056701"/>
            <a:ext cx="3918875" cy="24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type of data is it?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White, White, Black, White, Black, 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Which distribution?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With what parameter?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788" y="2056701"/>
            <a:ext cx="3918875" cy="24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if we put in 10 white balls?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changed?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What is it now?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788" y="2056701"/>
            <a:ext cx="3918875" cy="24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if we put in 10 white balls?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415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changed?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What is it now?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If we know exactly what it is, we can simulate from it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[Notebook]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788" y="2056701"/>
            <a:ext cx="3918875" cy="24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express it graphically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14621" r="11496" t="0"/>
          <a:stretch/>
        </p:blipFill>
        <p:spPr>
          <a:xfrm>
            <a:off x="3361363" y="1961100"/>
            <a:ext cx="2421275" cy="20180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1102700" y="2600225"/>
            <a:ext cx="732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600">
                <a:latin typeface="Source Sans Pro"/>
                <a:ea typeface="Source Sans Pro"/>
                <a:cs typeface="Source Sans Pro"/>
                <a:sym typeface="Source Sans Pro"/>
              </a:rPr>
              <a:t>p</a:t>
            </a:r>
            <a:endParaRPr b="1" i="1"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" name="Google Shape;100;p19"/>
          <p:cNvCxnSpPr>
            <a:stCxn id="99" idx="3"/>
            <a:endCxn id="98" idx="1"/>
          </p:cNvCxnSpPr>
          <p:nvPr/>
        </p:nvCxnSpPr>
        <p:spPr>
          <a:xfrm>
            <a:off x="1835600" y="29701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9"/>
          <p:cNvCxnSpPr/>
          <p:nvPr/>
        </p:nvCxnSpPr>
        <p:spPr>
          <a:xfrm>
            <a:off x="5782650" y="29701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9"/>
          <p:cNvSpPr txBox="1"/>
          <p:nvPr/>
        </p:nvSpPr>
        <p:spPr>
          <a:xfrm>
            <a:off x="7308425" y="2600225"/>
            <a:ext cx="9756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Data</a:t>
            </a:r>
            <a:endParaRPr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express it graphically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1102700" y="2600225"/>
            <a:ext cx="732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600">
                <a:latin typeface="Source Sans Pro"/>
                <a:ea typeface="Source Sans Pro"/>
                <a:cs typeface="Source Sans Pro"/>
                <a:sym typeface="Source Sans Pro"/>
              </a:rPr>
              <a:t>p</a:t>
            </a:r>
            <a:endParaRPr b="1" i="1"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9" name="Google Shape;109;p20"/>
          <p:cNvCxnSpPr>
            <a:stCxn id="108" idx="3"/>
            <a:endCxn id="110" idx="1"/>
          </p:cNvCxnSpPr>
          <p:nvPr/>
        </p:nvCxnSpPr>
        <p:spPr>
          <a:xfrm>
            <a:off x="1835600" y="29701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20"/>
          <p:cNvCxnSpPr/>
          <p:nvPr/>
        </p:nvCxnSpPr>
        <p:spPr>
          <a:xfrm>
            <a:off x="5782650" y="29701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20"/>
          <p:cNvSpPr txBox="1"/>
          <p:nvPr/>
        </p:nvSpPr>
        <p:spPr>
          <a:xfrm>
            <a:off x="7308425" y="2600225"/>
            <a:ext cx="9756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Data</a:t>
            </a:r>
            <a:endParaRPr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3361363" y="2125325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</a:t>
            </a:r>
            <a:endParaRPr i="1" sz="3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Example?</a:t>
            </a:r>
            <a:endParaRPr/>
          </a:p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Volunteer</a:t>
            </a:r>
            <a:endParaRPr/>
          </a:p>
        </p:txBody>
      </p:sp>
      <p:sp>
        <p:nvSpPr>
          <p:cNvPr id="120" name="Google Shape;120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Suggest a measurement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Typically: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does it look like?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is the support?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is the mean?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is the variance?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Generative model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we know the parameters...</a:t>
            </a:r>
            <a:endParaRPr/>
          </a:p>
        </p:txBody>
      </p:sp>
      <p:sp>
        <p:nvSpPr>
          <p:cNvPr id="131" name="Google Shape;131;p23"/>
          <p:cNvSpPr txBox="1"/>
          <p:nvPr/>
        </p:nvSpPr>
        <p:spPr>
          <a:xfrm>
            <a:off x="216350" y="2600225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Source Sans Pro"/>
                <a:ea typeface="Source Sans Pro"/>
                <a:cs typeface="Source Sans Pro"/>
                <a:sym typeface="Source Sans Pro"/>
              </a:rPr>
              <a:t>Parameters</a:t>
            </a:r>
            <a:endParaRPr sz="2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32" name="Google Shape;132;p23"/>
          <p:cNvCxnSpPr>
            <a:stCxn id="131" idx="3"/>
          </p:cNvCxnSpPr>
          <p:nvPr/>
        </p:nvCxnSpPr>
        <p:spPr>
          <a:xfrm>
            <a:off x="1835750" y="29701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3"/>
          <p:cNvCxnSpPr/>
          <p:nvPr/>
        </p:nvCxnSpPr>
        <p:spPr>
          <a:xfrm>
            <a:off x="5782650" y="29701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3"/>
          <p:cNvSpPr txBox="1"/>
          <p:nvPr/>
        </p:nvSpPr>
        <p:spPr>
          <a:xfrm>
            <a:off x="7308425" y="2600225"/>
            <a:ext cx="1736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,...</a:t>
            </a:r>
            <a:endParaRPr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3361363" y="2125325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f(x|</a:t>
            </a:r>
            <a:r>
              <a:rPr i="1" lang="en-GB" sz="2300"/>
              <a:t>params</a:t>
            </a:r>
            <a:r>
              <a:rPr i="1" lang="en-GB" sz="3300"/>
              <a:t>)</a:t>
            </a:r>
            <a:endParaRPr i="1" sz="3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Bayesian Interpretation of Probability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4100">
                <a:solidFill>
                  <a:srgbClr val="D9D9D9"/>
                </a:solidFill>
              </a:rPr>
              <a:t>Uncertainty</a:t>
            </a:r>
            <a:endParaRPr sz="41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 average...?</a:t>
            </a:r>
            <a:endParaRPr/>
          </a:p>
        </p:txBody>
      </p:sp>
      <p:sp>
        <p:nvSpPr>
          <p:cNvPr id="147" name="Google Shape;147;p25"/>
          <p:cNvSpPr txBox="1"/>
          <p:nvPr/>
        </p:nvSpPr>
        <p:spPr>
          <a:xfrm>
            <a:off x="1788838" y="3231825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CCCC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/>
            </a:r>
            <a:r>
              <a:rPr lang="en-GB" sz="2100">
                <a:solidFill>
                  <a:srgbClr val="CCCC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Parameters?</a:t>
            </a:r>
            <a:endParaRPr sz="2100">
              <a:solidFill>
                <a:srgbClr val="CCCC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48" name="Google Shape;148;p25"/>
          <p:cNvCxnSpPr>
            <a:stCxn id="147" idx="3"/>
          </p:cNvCxnSpPr>
          <p:nvPr/>
        </p:nvCxnSpPr>
        <p:spPr>
          <a:xfrm>
            <a:off x="3408238" y="36017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25"/>
          <p:cNvSpPr/>
          <p:nvPr/>
        </p:nvSpPr>
        <p:spPr>
          <a:xfrm>
            <a:off x="4933850" y="2756925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f(x|</a:t>
            </a:r>
            <a:r>
              <a:rPr i="1" lang="en-GB" sz="2300">
                <a:solidFill>
                  <a:srgbClr val="CCCCCC"/>
                </a:solidFill>
              </a:rPr>
              <a:t>params</a:t>
            </a:r>
            <a:r>
              <a:rPr i="1" lang="en-GB" sz="3300"/>
              <a:t>)</a:t>
            </a:r>
            <a:endParaRPr i="1" sz="3300"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15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Most of the time, what we know are expected ranges.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When talking about a measurement, averages are not enough.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 distribution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Helps us express uncertainty about the parameters</a:t>
            </a:r>
            <a:endParaRPr/>
          </a:p>
        </p:txBody>
      </p:sp>
      <p:sp>
        <p:nvSpPr>
          <p:cNvPr id="157" name="Google Shape;157;p26"/>
          <p:cNvSpPr txBox="1"/>
          <p:nvPr/>
        </p:nvSpPr>
        <p:spPr>
          <a:xfrm>
            <a:off x="1788838" y="3231825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CCCC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Parameters?</a:t>
            </a:r>
            <a:endParaRPr sz="2100">
              <a:solidFill>
                <a:srgbClr val="CCCC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58" name="Google Shape;158;p26"/>
          <p:cNvCxnSpPr>
            <a:stCxn id="157" idx="3"/>
          </p:cNvCxnSpPr>
          <p:nvPr/>
        </p:nvCxnSpPr>
        <p:spPr>
          <a:xfrm>
            <a:off x="3408238" y="36017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6"/>
          <p:cNvSpPr/>
          <p:nvPr/>
        </p:nvSpPr>
        <p:spPr>
          <a:xfrm>
            <a:off x="4933850" y="2756925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f(x|</a:t>
            </a:r>
            <a:r>
              <a:rPr i="1" lang="en-GB" sz="2300">
                <a:solidFill>
                  <a:srgbClr val="CCCCCC"/>
                </a:solidFill>
              </a:rPr>
              <a:t>params</a:t>
            </a:r>
            <a:r>
              <a:rPr i="1" lang="en-GB" sz="3300"/>
              <a:t>)</a:t>
            </a:r>
            <a:endParaRPr i="1" sz="3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 to the urn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515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if I'm only told there is 1 ball?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You have to guess the color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5673900" y="2121600"/>
            <a:ext cx="2861400" cy="2010000"/>
          </a:xfrm>
          <a:prstGeom prst="cube">
            <a:avLst>
              <a:gd fmla="val 25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 to the urn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152475"/>
            <a:ext cx="515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if I'm only told there is 1 ball?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/>
              <a:t>You have to guess how many white there will be in 10 trials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 could express my uncertainty using a distribution: </a:t>
            </a:r>
            <a:r>
              <a:rPr i="1" lang="en-GB"/>
              <a:t>equivalent to flipping a coin</a:t>
            </a:r>
            <a:endParaRPr i="1"/>
          </a:p>
        </p:txBody>
      </p:sp>
      <p:sp>
        <p:nvSpPr>
          <p:cNvPr id="173" name="Google Shape;173;p28"/>
          <p:cNvSpPr/>
          <p:nvPr/>
        </p:nvSpPr>
        <p:spPr>
          <a:xfrm>
            <a:off x="5673900" y="2121600"/>
            <a:ext cx="2861400" cy="2010000"/>
          </a:xfrm>
          <a:prstGeom prst="cube">
            <a:avLst>
              <a:gd fmla="val 25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 to the urn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11700" y="1152475"/>
            <a:ext cx="515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if I'm only told there are </a:t>
            </a:r>
            <a:r>
              <a:rPr b="1" lang="en-GB"/>
              <a:t>9</a:t>
            </a:r>
            <a:r>
              <a:rPr b="1" lang="en-GB"/>
              <a:t> </a:t>
            </a:r>
            <a:r>
              <a:rPr lang="en-GB"/>
              <a:t>balls?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You have to guess how many white there will be in 10 trials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 could express my uncertainty using a distribution: </a:t>
            </a:r>
            <a:r>
              <a:rPr i="1" lang="en-GB"/>
              <a:t>rolling a 10-sided die</a:t>
            </a:r>
            <a:endParaRPr i="1"/>
          </a:p>
        </p:txBody>
      </p:sp>
      <p:sp>
        <p:nvSpPr>
          <p:cNvPr id="180" name="Google Shape;180;p29"/>
          <p:cNvSpPr/>
          <p:nvPr/>
        </p:nvSpPr>
        <p:spPr>
          <a:xfrm>
            <a:off x="5673900" y="2121600"/>
            <a:ext cx="2861400" cy="2010000"/>
          </a:xfrm>
          <a:prstGeom prst="cube">
            <a:avLst>
              <a:gd fmla="val 25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None of this is statistics!</a:t>
            </a:r>
            <a:endParaRPr/>
          </a:p>
        </p:txBody>
      </p:sp>
      <p:sp>
        <p:nvSpPr>
          <p:cNvPr id="186" name="Google Shape;186;p30"/>
          <p:cNvSpPr txBox="1"/>
          <p:nvPr/>
        </p:nvSpPr>
        <p:spPr>
          <a:xfrm>
            <a:off x="216350" y="2600225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D9D9D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</a:t>
            </a:r>
            <a:endParaRPr sz="2100">
              <a:solidFill>
                <a:srgbClr val="D9D9D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87" name="Google Shape;187;p30"/>
          <p:cNvCxnSpPr>
            <a:stCxn id="186" idx="3"/>
          </p:cNvCxnSpPr>
          <p:nvPr/>
        </p:nvCxnSpPr>
        <p:spPr>
          <a:xfrm>
            <a:off x="1835750" y="29701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30"/>
          <p:cNvCxnSpPr/>
          <p:nvPr/>
        </p:nvCxnSpPr>
        <p:spPr>
          <a:xfrm>
            <a:off x="5782650" y="2970125"/>
            <a:ext cx="152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30"/>
          <p:cNvSpPr txBox="1"/>
          <p:nvPr/>
        </p:nvSpPr>
        <p:spPr>
          <a:xfrm>
            <a:off x="7308425" y="2600225"/>
            <a:ext cx="1736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,...</a:t>
            </a:r>
            <a:endParaRPr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0" name="Google Shape;190;p30"/>
          <p:cNvSpPr/>
          <p:nvPr/>
        </p:nvSpPr>
        <p:spPr>
          <a:xfrm>
            <a:off x="3361363" y="2125325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f(x|</a:t>
            </a:r>
            <a:r>
              <a:rPr i="1" lang="en-GB" sz="2300">
                <a:solidFill>
                  <a:srgbClr val="D9D9D9"/>
                </a:solidFill>
              </a:rPr>
              <a:t>params</a:t>
            </a:r>
            <a:r>
              <a:rPr i="1" lang="en-GB" sz="3300"/>
              <a:t>)</a:t>
            </a:r>
            <a:endParaRPr i="1" sz="3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would be statistics</a:t>
            </a:r>
            <a:endParaRPr/>
          </a:p>
        </p:txBody>
      </p:sp>
      <p:sp>
        <p:nvSpPr>
          <p:cNvPr id="196" name="Google Shape;196;p31"/>
          <p:cNvSpPr txBox="1"/>
          <p:nvPr/>
        </p:nvSpPr>
        <p:spPr>
          <a:xfrm>
            <a:off x="216350" y="2600225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D9D9D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</a:t>
            </a:r>
            <a:endParaRPr sz="2100">
              <a:solidFill>
                <a:srgbClr val="D9D9D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97" name="Google Shape;197;p31"/>
          <p:cNvCxnSpPr>
            <a:stCxn id="198" idx="1"/>
          </p:cNvCxnSpPr>
          <p:nvPr/>
        </p:nvCxnSpPr>
        <p:spPr>
          <a:xfrm rot="10800000">
            <a:off x="5799425" y="2970125"/>
            <a:ext cx="1509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31"/>
          <p:cNvSpPr txBox="1"/>
          <p:nvPr/>
        </p:nvSpPr>
        <p:spPr>
          <a:xfrm>
            <a:off x="7308425" y="2600225"/>
            <a:ext cx="1736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,...</a:t>
            </a:r>
            <a:endParaRPr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3361363" y="2125325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f(x|</a:t>
            </a:r>
            <a:r>
              <a:rPr i="1" lang="en-GB" sz="2300">
                <a:solidFill>
                  <a:srgbClr val="D9D9D9"/>
                </a:solidFill>
              </a:rPr>
              <a:t>params</a:t>
            </a:r>
            <a:r>
              <a:rPr i="1" lang="en-GB" sz="3300"/>
              <a:t>)</a:t>
            </a:r>
            <a:endParaRPr i="1" sz="3300"/>
          </a:p>
        </p:txBody>
      </p:sp>
      <p:cxnSp>
        <p:nvCxnSpPr>
          <p:cNvPr id="200" name="Google Shape;200;p31"/>
          <p:cNvCxnSpPr/>
          <p:nvPr/>
        </p:nvCxnSpPr>
        <p:spPr>
          <a:xfrm rot="10800000">
            <a:off x="1844063" y="2970125"/>
            <a:ext cx="1509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